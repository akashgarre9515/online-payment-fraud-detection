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72" r:id="rId3"/>
  </p:sldMasterIdLst>
  <p:notesMasterIdLst>
    <p:notesMasterId r:id="rId60"/>
  </p:notesMasterIdLst>
  <p:sldIdLst>
    <p:sldId id="266" r:id="rId4"/>
    <p:sldId id="267" r:id="rId5"/>
    <p:sldId id="259" r:id="rId6"/>
    <p:sldId id="289" r:id="rId7"/>
    <p:sldId id="300" r:id="rId8"/>
    <p:sldId id="301" r:id="rId9"/>
    <p:sldId id="290" r:id="rId10"/>
    <p:sldId id="262" r:id="rId11"/>
    <p:sldId id="263" r:id="rId12"/>
    <p:sldId id="302" r:id="rId13"/>
    <p:sldId id="303" r:id="rId14"/>
    <p:sldId id="304" r:id="rId15"/>
    <p:sldId id="305" r:id="rId16"/>
    <p:sldId id="306" r:id="rId17"/>
    <p:sldId id="273" r:id="rId18"/>
    <p:sldId id="277" r:id="rId19"/>
    <p:sldId id="278" r:id="rId20"/>
    <p:sldId id="279" r:id="rId21"/>
    <p:sldId id="280" r:id="rId22"/>
    <p:sldId id="281" r:id="rId23"/>
    <p:sldId id="334" r:id="rId24"/>
    <p:sldId id="335" r:id="rId25"/>
    <p:sldId id="336" r:id="rId26"/>
    <p:sldId id="282" r:id="rId27"/>
    <p:sldId id="283" r:id="rId28"/>
    <p:sldId id="284" r:id="rId29"/>
    <p:sldId id="377" r:id="rId30"/>
    <p:sldId id="285" r:id="rId31"/>
    <p:sldId id="308" r:id="rId32"/>
    <p:sldId id="286" r:id="rId33"/>
    <p:sldId id="291" r:id="rId34"/>
    <p:sldId id="358" r:id="rId35"/>
    <p:sldId id="364" r:id="rId36"/>
    <p:sldId id="361" r:id="rId37"/>
    <p:sldId id="365" r:id="rId38"/>
    <p:sldId id="363" r:id="rId39"/>
    <p:sldId id="367" r:id="rId40"/>
    <p:sldId id="368" r:id="rId41"/>
    <p:sldId id="366" r:id="rId42"/>
    <p:sldId id="357" r:id="rId43"/>
    <p:sldId id="362" r:id="rId44"/>
    <p:sldId id="375" r:id="rId45"/>
    <p:sldId id="376" r:id="rId46"/>
    <p:sldId id="369" r:id="rId47"/>
    <p:sldId id="370" r:id="rId48"/>
    <p:sldId id="373" r:id="rId49"/>
    <p:sldId id="374" r:id="rId50"/>
    <p:sldId id="372" r:id="rId51"/>
    <p:sldId id="359" r:id="rId52"/>
    <p:sldId id="354" r:id="rId53"/>
    <p:sldId id="355" r:id="rId54"/>
    <p:sldId id="292" r:id="rId55"/>
    <p:sldId id="287" r:id="rId56"/>
    <p:sldId id="371" r:id="rId57"/>
    <p:sldId id="293" r:id="rId58"/>
    <p:sldId id="270" r:id="rId59"/>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598CCE-3ECB-2B1C-8320-2A320721281E}" v="180" dt="2025-01-06T12:36:02.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38"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C397918-9A1E-4193-B5A5-D0D8C24B85CD}" type="datetimeFigureOut">
              <a:rPr kumimoji="0" lang="en-IN" sz="1200" b="0" i="0" u="none" strike="noStrike" kern="1200" cap="none" spc="0" normalizeH="0" baseline="0" noProof="0">
                <a:ln>
                  <a:noFill/>
                </a:ln>
                <a:solidFill>
                  <a:schemeClr val="tx1"/>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IN" altLang="en-US" sz="1200" dirty="0"/>
              <a:t>‹#›</a:t>
            </a:fld>
            <a:endParaRPr lang="en-IN" altLang="en-US" sz="120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a:t>Click to edit Master title style</a:t>
            </a:r>
            <a:endParaRPr lang="en-IN" altLang="en-US"/>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6D768C7-84F9-47FF-B294-7754906FDCC9}"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06-01-2025</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en-IN" altLang="en-US" dirty="0">
                <a:latin typeface="Calibri" panose="020F0502020204030204" pitchFamily="34" charset="0"/>
              </a:rPr>
              <a:t>‹#›</a:t>
            </a:fld>
            <a:endParaRPr lang="en-IN" altLang="en-US">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a:t>Click to edit Master title style</a:t>
            </a:r>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AD97D00-1E25-43A7-AE0A-50707F4D6DE3}"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a:t>Click to edit Master title style</a:t>
            </a:r>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D70B79B-B9E1-456B-BBA6-633DE6DF71B2}" type="datetime1">
              <a:rPr kumimoji="0" lang="en-IN" sz="1200" b="0" i="0" u="none" strike="noStrike" kern="1200" cap="none" spc="0" normalizeH="0" baseline="0" noProof="0">
                <a:ln>
                  <a:noFill/>
                </a:ln>
                <a:solidFill>
                  <a:prstClr val="black">
                    <a:tint val="75000"/>
                  </a:prstClr>
                </a:solidFill>
                <a:effectLst/>
                <a:uLnTx/>
                <a:uFillTx/>
                <a:latin typeface="+mn-lt"/>
                <a:ea typeface="+mn-ea"/>
                <a:cs typeface="+mn-cs"/>
              </a:rPr>
              <a:t>06-01-2025</a:t>
            </a:fld>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en-US" altLang="en-US" dirty="0">
                <a:latin typeface="Calibri" panose="020F0502020204030204" pitchFamily="34" charset="0"/>
              </a:rPr>
              <a:t>‹#›</a:t>
            </a:fld>
            <a:endParaRPr lang="en-US" altLang="en-US">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39713" y="747713"/>
            <a:ext cx="8580437" cy="1457325"/>
          </a:xfrm>
        </p:spPr>
        <p:txBody>
          <a:bodyPr vert="horz" wrap="square" lIns="91440" tIns="45720" rIns="91440" bIns="45720" anchor="ctr" anchorCtr="0"/>
          <a:lstStyle/>
          <a:p>
            <a:pPr eaLnBrk="1" hangingPunct="1"/>
            <a:r>
              <a:rPr lang="en-IN" altLang="en-US" sz="2000">
                <a:latin typeface="Times New Roman" panose="02020603050405020304" pitchFamily="18" charset="0"/>
                <a:cs typeface="Times New Roman" panose="02020603050405020304" pitchFamily="18" charset="0"/>
                <a:sym typeface="+mn-ea"/>
              </a:rPr>
              <a:t>Capstone Project – Final:  Review – 1 o</a:t>
            </a:r>
            <a:r>
              <a:rPr lang="en-US" altLang="en-IN" sz="2000">
                <a:latin typeface="Times New Roman" panose="02020603050405020304" pitchFamily="18" charset="0"/>
                <a:cs typeface="Times New Roman" panose="02020603050405020304" pitchFamily="18" charset="0"/>
                <a:sym typeface="+mn-ea"/>
              </a:rPr>
              <a:t>n</a:t>
            </a:r>
            <a:br>
              <a:rPr lang="en-US" altLang="en-IN" sz="2800">
                <a:latin typeface="Times New Roman" panose="02020603050405020304" pitchFamily="18" charset="0"/>
                <a:cs typeface="Times New Roman" panose="02020603050405020304" pitchFamily="18" charset="0"/>
                <a:sym typeface="+mn-ea"/>
              </a:rPr>
            </a:br>
            <a:r>
              <a:rPr lang="en-IN" altLang="en-US" sz="2800" b="1">
                <a:latin typeface="Times New Roman" panose="02020603050405020304" pitchFamily="18" charset="0"/>
                <a:cs typeface="Times New Roman" panose="02020603050405020304" pitchFamily="18" charset="0"/>
                <a:sym typeface="+mn-ea"/>
              </a:rPr>
              <a:t>Online Payment Fraud Detection</a:t>
            </a:r>
            <a:endParaRPr lang="en-IN" altLang="en-US" sz="2800" b="1">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411413" y="4508500"/>
            <a:ext cx="4105275" cy="1222375"/>
          </a:xfrm>
        </p:spPr>
        <p:txBody>
          <a:bodyPr vert="horz" wrap="square" lIns="91440" tIns="45720" rIns="91440" bIns="45720" numCol="1" rtlCol="0" anchor="t" anchorCtr="0" compatLnSpc="1">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IN" sz="2000" b="1" i="0" u="none" strike="noStrike" kern="1200" cap="none" spc="0" normalizeH="0" baseline="0" noProof="0">
                <a:ln>
                  <a:noFill/>
                </a:ln>
                <a:solidFill>
                  <a:srgbClr val="0070C0"/>
                </a:solidFill>
                <a:effectLst/>
                <a:uLnTx/>
                <a:uFillTx/>
                <a:latin typeface="Times New Roman" panose="02020603050405020304" pitchFamily="18" charset="0"/>
                <a:ea typeface="+mn-ea"/>
                <a:cs typeface="Times New Roman" panose="02020603050405020304" pitchFamily="18" charset="0"/>
              </a:rPr>
              <a:t>Under the Guidance of</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en-US" sz="2000" noProof="0">
                <a:ln>
                  <a:noFill/>
                </a:ln>
                <a:effectLst/>
                <a:uLnTx/>
                <a:uFillTx/>
                <a:latin typeface="Times New Roman" panose="02020603050405020304" pitchFamily="18" charset="0"/>
                <a:cs typeface="Times New Roman" panose="02020603050405020304" pitchFamily="18" charset="0"/>
                <a:sym typeface="+mn-ea"/>
              </a:rPr>
              <a:t>Mrs.Chandra Prabha</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en-US" sz="2000" b="1" noProof="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sym typeface="+mn-ea"/>
              </a:rPr>
              <a:t>Assistant Professor</a:t>
            </a:r>
            <a:endParaRPr kumimoji="0" lang="en-IN" altLang="en-US" sz="2000" b="1" i="0" u="none" strike="noStrike" kern="1200" cap="none" spc="0" normalizeH="0" baseline="0" noProof="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IN" altLang="en-US" sz="2000" b="1" i="0" u="none" strike="noStrike" kern="1200" cap="none" spc="0" normalizeH="0" baseline="0" noProof="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p:txBody>
      </p:sp>
      <p:sp>
        <p:nvSpPr>
          <p:cNvPr id="4100" name="TextBox 4"/>
          <p:cNvSpPr txBox="1">
            <a:spLocks noChangeArrowheads="1"/>
          </p:cNvSpPr>
          <p:nvPr/>
        </p:nvSpPr>
        <p:spPr bwMode="auto">
          <a:xfrm>
            <a:off x="84138" y="2420938"/>
            <a:ext cx="8375650" cy="2030095"/>
          </a:xfrm>
          <a:prstGeom prst="rect">
            <a:avLst/>
          </a:prstGeom>
          <a:noFill/>
          <a:ln>
            <a:noFill/>
          </a:ln>
        </p:spPr>
        <p:txBody>
          <a:bodyPr>
            <a:spAutoFit/>
          </a:bodyPr>
          <a:lstStyle>
            <a:lvl1pPr>
              <a:defRPr sz="3200">
                <a:solidFill>
                  <a:schemeClr val="tx1"/>
                </a:solidFill>
                <a:latin typeface="Calibri" panose="020F0502020204030204" pitchFamily="34" charset="0"/>
              </a:defRPr>
            </a:lvl1pPr>
            <a:lvl2pPr>
              <a:defRPr sz="2800">
                <a:solidFill>
                  <a:schemeClr val="tx1"/>
                </a:solidFill>
                <a:latin typeface="Calibri" panose="020F0502020204030204" pitchFamily="34" charset="0"/>
              </a:defRPr>
            </a:lvl2pPr>
            <a:lvl3pPr>
              <a:defRPr sz="2400">
                <a:solidFill>
                  <a:schemeClr val="tx1"/>
                </a:solidFill>
                <a:latin typeface="Calibri" panose="020F0502020204030204" pitchFamily="34" charset="0"/>
              </a:defRPr>
            </a:lvl3pPr>
            <a:lvl4pPr>
              <a:defRPr sz="2000">
                <a:solidFill>
                  <a:schemeClr val="tx1"/>
                </a:solidFill>
                <a:latin typeface="Calibri" panose="020F0502020204030204" pitchFamily="34" charset="0"/>
              </a:defRPr>
            </a:lvl4pPr>
            <a:lvl5pPr>
              <a:defRPr sz="2000">
                <a:solidFill>
                  <a:schemeClr val="tx1"/>
                </a:solidFill>
                <a:latin typeface="Calibri" panose="020F0502020204030204" pitchFamily="34" charset="0"/>
              </a:defRPr>
            </a:lvl5pPr>
            <a:lvl6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6pPr>
            <a:lvl7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7pPr>
            <a:lvl8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8pPr>
            <a:lvl9pPr eaLnBrk="0" fontAlgn="base" hangingPunct="0">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IN" altLang="en-US" sz="1800" b="1" noProof="0">
                <a:ln>
                  <a:noFill/>
                </a:ln>
                <a:solidFill>
                  <a:srgbClr val="C00000"/>
                </a:solidFill>
                <a:effectLst/>
                <a:uLnTx/>
                <a:uFillTx/>
                <a:latin typeface="Times New Roman" panose="02020603050405020304" pitchFamily="18" charset="0"/>
                <a:cs typeface="Times New Roman" panose="02020603050405020304" pitchFamily="18" charset="0"/>
                <a:sym typeface="+mn-ea"/>
              </a:rPr>
              <a:t>Presented by the Batch No. : CSBS-</a:t>
            </a:r>
            <a:r>
              <a:rPr lang="en-US" altLang="en-IN" sz="1800" b="1" noProof="0">
                <a:ln>
                  <a:noFill/>
                </a:ln>
                <a:solidFill>
                  <a:srgbClr val="C00000"/>
                </a:solidFill>
                <a:effectLst/>
                <a:uLnTx/>
                <a:uFillTx/>
                <a:latin typeface="Times New Roman" panose="02020603050405020304" pitchFamily="18" charset="0"/>
                <a:cs typeface="Times New Roman" panose="02020603050405020304" pitchFamily="18" charset="0"/>
                <a:sym typeface="+mn-ea"/>
              </a:rPr>
              <a:t>3</a:t>
            </a:r>
            <a:endParaRPr kumimoji="0" lang="en-IN" altLang="en-US" sz="1800" b="1" i="0" u="none" strike="noStrike" kern="1200" cap="none" spc="0" normalizeH="0" baseline="0" noProof="0">
              <a:ln>
                <a:noFill/>
              </a:ln>
              <a:solidFill>
                <a:srgbClr val="C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lang="en-US" altLang="en-US" sz="1800" b="1" noProof="0">
                <a:ln>
                  <a:noFill/>
                </a:ln>
                <a:solidFill>
                  <a:prstClr val="black"/>
                </a:solidFill>
                <a:effectLst/>
                <a:uLnTx/>
                <a:uFillTx/>
                <a:latin typeface="Times New Roman" panose="02020603050405020304" pitchFamily="18" charset="0"/>
                <a:cs typeface="Times New Roman" panose="02020603050405020304" pitchFamily="18" charset="0"/>
                <a:sym typeface="+mn-ea"/>
              </a:rPr>
              <a:t>      G.AKASH</a:t>
            </a:r>
            <a:r>
              <a:rPr lang="en-US"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BU21CSEN0200131(TL)</a:t>
            </a:r>
            <a:endParaRPr kumimoji="0" lang="en-US" altLang="en-US" sz="18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lang="en-US"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V.JATHIN                        BU21CSEN0200046 </a:t>
            </a:r>
            <a:endPar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ctr" latinLnBrk="0" hangingPunct="0">
              <a:lnSpc>
                <a:spcPct val="100000"/>
              </a:lnSpc>
              <a:spcBef>
                <a:spcPct val="0"/>
              </a:spcBef>
              <a:spcAft>
                <a:spcPct val="0"/>
              </a:spcAft>
              <a:buClrTx/>
              <a:buSzTx/>
              <a:buFontTx/>
              <a:buNone/>
              <a:defRPr/>
            </a:pPr>
            <a:r>
              <a:rPr lang="en-US"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A.SHARAN</a:t>
            </a:r>
            <a:r>
              <a:rPr lang="en-IN"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a:t>
            </a:r>
            <a:r>
              <a:rPr lang="en-US" altLang="en-IN"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a:t>
            </a:r>
            <a:r>
              <a:rPr lang="en-IN"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BU21CSEN02000</a:t>
            </a:r>
            <a:r>
              <a:rPr lang="en-US" altLang="en-IN"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79</a:t>
            </a:r>
            <a:br>
              <a:rPr lang="en-IN"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br>
            <a:r>
              <a:rPr lang="en-IN"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a:t>
            </a:r>
            <a:r>
              <a:rPr lang="en-US" altLang="en-IN"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G.MANINDAR</a:t>
            </a:r>
            <a:r>
              <a:rPr lang="en-IN" altLang="en-US"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                   BU21CSEN02001</a:t>
            </a:r>
            <a:r>
              <a:rPr lang="en-US" altLang="en-IN" sz="1800" b="1" noProof="0">
                <a:ln>
                  <a:noFill/>
                </a:ln>
                <a:solidFill>
                  <a:srgbClr val="000000"/>
                </a:solidFill>
                <a:effectLst/>
                <a:uLnTx/>
                <a:uFillTx/>
                <a:latin typeface="Times New Roman" panose="02020603050405020304" pitchFamily="18" charset="0"/>
                <a:cs typeface="Times New Roman" panose="02020603050405020304" pitchFamily="18" charset="0"/>
                <a:sym typeface="+mn-ea"/>
              </a:rPr>
              <a:t>68</a:t>
            </a:r>
            <a:endParaRPr kumimoji="0" lang="en-US" altLang="en-IN" sz="18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125" name="Rectangle 11"/>
          <p:cNvSpPr/>
          <p:nvPr/>
        </p:nvSpPr>
        <p:spPr>
          <a:xfrm>
            <a:off x="539750" y="5732463"/>
            <a:ext cx="82804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IN" altLang="en-US" sz="2000" b="1">
                <a:solidFill>
                  <a:srgbClr val="000099"/>
                </a:solidFill>
                <a:latin typeface="Times New Roman" panose="02020603050405020304" pitchFamily="18" charset="0"/>
                <a:cs typeface="Times New Roman" panose="02020603050405020304" pitchFamily="18" charset="0"/>
              </a:rPr>
              <a:t>Department of Artificial Intelligence &amp; Data Science</a:t>
            </a:r>
          </a:p>
          <a:p>
            <a:pPr marL="0" lvl="0" indent="0"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GITAM School of Technology, GITAM (Deemed to be University),</a:t>
            </a:r>
          </a:p>
          <a:p>
            <a:pPr marL="0" lvl="0" indent="0"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Bengaluru, Karnataka, INDIA.</a:t>
            </a:r>
            <a:endParaRPr lang="en-IN" altLang="en-US" sz="2000" b="1">
              <a:solidFill>
                <a:srgbClr val="000099"/>
              </a:solidFill>
              <a:latin typeface="Times New Roman" panose="02020603050405020304" pitchFamily="18" charset="0"/>
              <a:ea typeface="Times New Roman" panose="02020603050405020304" pitchFamily="18" charset="0"/>
            </a:endParaRPr>
          </a:p>
        </p:txBody>
      </p:sp>
      <p:pic>
        <p:nvPicPr>
          <p:cNvPr id="5126"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
        <p:nvSpPr>
          <p:cNvPr id="2" name="Text Box 1"/>
          <p:cNvSpPr txBox="1"/>
          <p:nvPr/>
        </p:nvSpPr>
        <p:spPr>
          <a:xfrm>
            <a:off x="9537700" y="4072255"/>
            <a:ext cx="3048000" cy="368300"/>
          </a:xfrm>
          <a:prstGeom prst="rect">
            <a:avLst/>
          </a:prstGeom>
          <a:noFill/>
        </p:spPr>
        <p:txBody>
          <a:bodyPr wrap="squar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492125"/>
            <a:ext cx="5278438" cy="885825"/>
          </a:xfrm>
        </p:spPr>
        <p:txBody>
          <a:bodyPr vert="horz" wrap="square" lIns="91440" tIns="45720" rIns="91440" bIns="45720" anchor="ctr" anchorCtr="0"/>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endParaRPr lang="en-IN" altLang="en-US" sz="2800" b="1">
              <a:solidFill>
                <a:srgbClr val="0070C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41450"/>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614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2</a:t>
            </a:fld>
            <a:endParaRPr lang="en-US" altLang="en-US" sz="1200">
              <a:solidFill>
                <a:srgbClr val="898989"/>
              </a:solidFill>
              <a:ea typeface="Arial" panose="020B0604020202020204" pitchFamily="34" charset="0"/>
              <a:cs typeface="Arial" panose="020B0604020202020204" pitchFamily="34" charset="0"/>
            </a:endParaRPr>
          </a:p>
        </p:txBody>
      </p:sp>
      <p:pic>
        <p:nvPicPr>
          <p:cNvPr id="614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
        <p:nvSpPr>
          <p:cNvPr id="7171" name="Rectangle 3"/>
          <p:cNvSpPr/>
          <p:nvPr/>
        </p:nvSpPr>
        <p:spPr>
          <a:xfrm>
            <a:off x="3059113" y="312738"/>
            <a:ext cx="2401887" cy="523875"/>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Abstract</a:t>
            </a:r>
            <a:endParaRPr lang="en-IN" altLang="en-US" sz="2800" b="1">
              <a:latin typeface="Times New Roman" panose="02020603050405020304" pitchFamily="18" charset="0"/>
              <a:ea typeface="Times New Roman" panose="02020603050405020304" pitchFamily="18" charset="0"/>
            </a:endParaRPr>
          </a:p>
        </p:txBody>
      </p:sp>
      <p:sp>
        <p:nvSpPr>
          <p:cNvPr id="7172" name="Rectangle 7"/>
          <p:cNvSpPr/>
          <p:nvPr/>
        </p:nvSpPr>
        <p:spPr>
          <a:xfrm>
            <a:off x="179705" y="1412875"/>
            <a:ext cx="8569325" cy="3532505"/>
          </a:xfrm>
          <a:prstGeom prst="rect">
            <a:avLst/>
          </a:prstGeom>
          <a:noFill/>
          <a:ln w="9525">
            <a:noFill/>
          </a:ln>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73025" lvl="0" indent="0" algn="just">
              <a:spcBef>
                <a:spcPts val="1200"/>
              </a:spcBef>
              <a:spcAft>
                <a:spcPts val="1200"/>
              </a:spcAft>
              <a:buNone/>
            </a:pPr>
            <a:r>
              <a:rPr lang="en-US" sz="1800">
                <a:latin typeface="Times New Roman" panose="02020603050405020304" pitchFamily="18" charset="0"/>
                <a:cs typeface="Times New Roman" panose="02020603050405020304" pitchFamily="18" charset="0"/>
                <a:sym typeface="+mn-ea"/>
              </a:rPr>
              <a:t>The system first preprocesses transaction data to extract relevant features, followed by the implementation of XGBoost for initial fraud prediction, leveraging its efficiency and robustness in handling imbalanced datasets. Subsequently, the predictions are refined using a DNN, which captures complex patterns in the data. To optimize model parameters and improve accuracy, WOA is employed, inspired by the hunting behavior of whales, to efficiently navigate the solution space.</a:t>
            </a:r>
            <a:endParaRPr lang="en-US" sz="1800">
              <a:latin typeface="Times New Roman" panose="02020603050405020304" pitchFamily="18" charset="0"/>
              <a:cs typeface="Times New Roman" panose="02020603050405020304" pitchFamily="18" charset="0"/>
            </a:endParaRPr>
          </a:p>
          <a:p>
            <a:pPr marL="73025" lvl="0" indent="0" algn="just">
              <a:spcBef>
                <a:spcPts val="1200"/>
              </a:spcBef>
              <a:spcAft>
                <a:spcPts val="1200"/>
              </a:spcAft>
              <a:buNone/>
            </a:pPr>
            <a:endParaRPr lang="en-US" altLang="en-US" sz="1800">
              <a:solidFill>
                <a:srgbClr val="00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395288" y="611188"/>
            <a:ext cx="5278437" cy="885825"/>
          </a:xfrm>
        </p:spPr>
        <p:txBody>
          <a:bodyPr vert="horz" wrap="square" lIns="91440" tIns="45720" rIns="91440" bIns="45720" anchor="ctr" anchorCtr="0"/>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endParaRPr lang="en-IN" altLang="en-US" sz="2800" b="1">
              <a:solidFill>
                <a:srgbClr val="0070C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606425" y="1628775"/>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8196"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4</a:t>
            </a:fld>
            <a:endParaRPr lang="en-US" altLang="en-US" sz="1200">
              <a:solidFill>
                <a:srgbClr val="898989"/>
              </a:solidFill>
              <a:ea typeface="Arial" panose="020B0604020202020204" pitchFamily="34" charset="0"/>
              <a:cs typeface="Arial" panose="020B0604020202020204" pitchFamily="34" charset="0"/>
            </a:endParaRPr>
          </a:p>
        </p:txBody>
      </p:sp>
      <p:pic>
        <p:nvPicPr>
          <p:cNvPr id="8197"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190750" y="739775"/>
            <a:ext cx="4762500" cy="687388"/>
          </a:xfrm>
        </p:spPr>
        <p:txBody>
          <a:bodyPr vert="horz" wrap="square" lIns="91440" tIns="45720" rIns="91440" bIns="45720" anchor="ctr" anchorCtr="0"/>
          <a:lstStyle/>
          <a:p>
            <a:r>
              <a:rPr lang="en-IN" altLang="en-US" b="1">
                <a:latin typeface="Times New Roman" panose="02020603050405020304" pitchFamily="18" charset="0"/>
                <a:cs typeface="Times New Roman" panose="02020603050405020304" pitchFamily="18" charset="0"/>
              </a:rPr>
              <a:t>Introduction</a:t>
            </a:r>
            <a:br>
              <a:rPr lang="en-IN" altLang="en-US" b="1">
                <a:latin typeface="Times New Roman" panose="02020603050405020304" pitchFamily="18" charset="0"/>
                <a:cs typeface="Times New Roman" panose="02020603050405020304" pitchFamily="18" charset="0"/>
              </a:rPr>
            </a:br>
            <a:endParaRPr lang="en-IN" altLang="en-US"/>
          </a:p>
        </p:txBody>
      </p:sp>
      <p:sp>
        <p:nvSpPr>
          <p:cNvPr id="9219" name="Content Placeholder 2"/>
          <p:cNvSpPr>
            <a:spLocks noGrp="1"/>
          </p:cNvSpPr>
          <p:nvPr>
            <p:ph idx="1"/>
          </p:nvPr>
        </p:nvSpPr>
        <p:spPr>
          <a:xfrm>
            <a:off x="137160" y="1499235"/>
            <a:ext cx="8870315" cy="5222240"/>
          </a:xfrm>
        </p:spPr>
        <p:txBody>
          <a:bodyPr vert="horz" wrap="square" lIns="91440" tIns="45720" rIns="91440" bIns="45720" anchor="t" anchorCtr="0"/>
          <a:lstStyle/>
          <a:p>
            <a:pPr marL="0" indent="0" algn="just">
              <a:buNone/>
            </a:pPr>
            <a:r>
              <a:rPr lang="en-US" sz="1800">
                <a:latin typeface="Times New Roman" panose="02020603050405020304" pitchFamily="18" charset="0"/>
                <a:cs typeface="Times New Roman" panose="02020603050405020304" pitchFamily="18" charset="0"/>
                <a:sym typeface="+mn-ea"/>
              </a:rPr>
              <a:t>Online payment fraud detection using XGBoost and DNN with WOA is a method for identifying fraudulent transactions in online payments. It combines XGBoost, a powerful machine learning algorithm, and Deep Neural Networks (DNN) to analyze transaction data. The Whale Optimization Algorithm (WOA) is used to improve the accuracy of these models by optimizing their parameters. Together, this approach enhances the ability to detect and prevent fraudulent activities, ensuring safer online transactions.</a:t>
            </a:r>
          </a:p>
          <a:p>
            <a:pPr marL="0" indent="0" algn="just">
              <a:buNone/>
            </a:pPr>
            <a:endParaRPr lang="en-US" altLang="en-US" sz="1800">
              <a:latin typeface="Times New Roman" panose="02020603050405020304" pitchFamily="18" charset="0"/>
              <a:cs typeface="Times New Roman" panose="02020603050405020304" pitchFamily="18" charset="0"/>
            </a:endParaRPr>
          </a:p>
          <a:p>
            <a:pPr marL="0" indent="0" algn="just">
              <a:buNone/>
            </a:pPr>
            <a:r>
              <a:rPr lang="en-US" altLang="en-US" sz="1800" b="1">
                <a:latin typeface="Times New Roman" panose="02020603050405020304" pitchFamily="18" charset="0"/>
                <a:cs typeface="Times New Roman" panose="02020603050405020304" pitchFamily="18" charset="0"/>
                <a:sym typeface="+mn-ea"/>
              </a:rPr>
              <a:t>Challenges</a:t>
            </a:r>
            <a:endParaRPr lang="en-US" altLang="en-US" sz="1800" b="1">
              <a:latin typeface="Times New Roman" panose="02020603050405020304" pitchFamily="18" charset="0"/>
              <a:cs typeface="Times New Roman" panose="02020603050405020304" pitchFamily="18" charset="0"/>
            </a:endParaRPr>
          </a:p>
          <a:p>
            <a:pPr marL="0" indent="0" algn="just">
              <a:buNone/>
            </a:pPr>
            <a:r>
              <a:rPr lang="en-US" altLang="en-US" sz="1800">
                <a:latin typeface="Times New Roman" panose="02020603050405020304" pitchFamily="18" charset="0"/>
                <a:cs typeface="Times New Roman" panose="02020603050405020304" pitchFamily="18" charset="0"/>
                <a:sym typeface="+mn-ea"/>
              </a:rPr>
              <a:t>Complexity: Combining XGBoost, DNN, and WOA into a single model adds complexity in terms of both architecture and computational resources. Computational Cost: Training both XGBoost and DNN models, along with running the Whale Optimization Algorithm, may require significant computational resources, especially if the dataset is large Tuning WOA: WOA itself has parameters (e.g., population size, number of iterations) that need tuning for optimal performance. These must be carefully adjusted to get the best results from the model.</a:t>
            </a:r>
          </a:p>
          <a:p>
            <a:pPr marL="0" indent="0">
              <a:spcBef>
                <a:spcPct val="0"/>
              </a:spcBef>
              <a:buNone/>
            </a:pPr>
            <a:endParaRPr lang="en-US" altLang="en-US" sz="1800">
              <a:latin typeface="Times New Roman" panose="02020603050405020304" pitchFamily="18" charset="0"/>
              <a:ea typeface="Times New Roman" panose="02020603050405020304" pitchFamily="18" charset="0"/>
            </a:endParaRPr>
          </a:p>
        </p:txBody>
      </p:sp>
      <p:sp>
        <p:nvSpPr>
          <p:cNvPr id="9220"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5</a:t>
            </a:fld>
            <a:endParaRPr lang="en-IN" altLang="en-US" sz="1200">
              <a:solidFill>
                <a:srgbClr val="898989"/>
              </a:solidFill>
              <a:ea typeface="Arial" panose="020B0604020202020204" pitchFamily="34" charset="0"/>
              <a:cs typeface="Arial" panose="020B0604020202020204" pitchFamily="34" charset="0"/>
            </a:endParaRPr>
          </a:p>
        </p:txBody>
      </p:sp>
      <p:pic>
        <p:nvPicPr>
          <p:cNvPr id="9221"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190750" y="739775"/>
            <a:ext cx="4762500" cy="687388"/>
          </a:xfrm>
        </p:spPr>
        <p:txBody>
          <a:bodyPr vert="horz" wrap="square" lIns="91440" tIns="45720" rIns="91440" bIns="45720" anchor="ctr" anchorCtr="0"/>
          <a:lstStyle/>
          <a:p>
            <a:pPr eaLnBrk="1" hangingPunct="1"/>
            <a:r>
              <a:rPr lang="en-IN" altLang="en-US" sz="4000" b="1">
                <a:latin typeface="Times New Roman" panose="02020603050405020304" pitchFamily="18" charset="0"/>
                <a:cs typeface="Times New Roman" panose="02020603050405020304" pitchFamily="18" charset="0"/>
              </a:rPr>
              <a:t>Introduction..contd</a:t>
            </a:r>
            <a:endParaRPr lang="en-IN" altLang="en-US" sz="4000" b="1">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lang="en-US" sz="2000" b="1">
                <a:latin typeface="Times New Roman" panose="02020603050405020304" pitchFamily="18" charset="0"/>
                <a:cs typeface="Times New Roman" panose="02020603050405020304" pitchFamily="18" charset="0"/>
                <a:sym typeface="+mn-ea"/>
              </a:rPr>
              <a:t>XGBoost</a:t>
            </a:r>
            <a:r>
              <a:rPr lang="en-US" sz="2000">
                <a:latin typeface="Times New Roman" panose="02020603050405020304" pitchFamily="18" charset="0"/>
                <a:cs typeface="Times New Roman" panose="02020603050405020304" pitchFamily="18" charset="0"/>
                <a:sym typeface="+mn-ea"/>
              </a:rPr>
              <a:t> (Extreme Gradient Boosting) is a highly efficient and scalable implementation of the gradient boosting algorithm. It’s widely used in machine learning for tasks such as classification and regression due to its high performance, flexibility, and ability to handle a wide range of data types.</a:t>
            </a:r>
            <a:endParaRPr lang="en-US" sz="200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A </a:t>
            </a:r>
            <a:r>
              <a:rPr lang="en-US" sz="2000" b="1">
                <a:latin typeface="Times New Roman" panose="02020603050405020304" pitchFamily="18" charset="0"/>
                <a:cs typeface="Times New Roman" panose="02020603050405020304" pitchFamily="18" charset="0"/>
                <a:sym typeface="+mn-ea"/>
              </a:rPr>
              <a:t>DNN (Deep Neural Network) </a:t>
            </a:r>
            <a:r>
              <a:rPr lang="en-US" sz="2000">
                <a:latin typeface="Times New Roman" panose="02020603050405020304" pitchFamily="18" charset="0"/>
                <a:cs typeface="Times New Roman" panose="02020603050405020304" pitchFamily="18" charset="0"/>
                <a:sym typeface="+mn-ea"/>
              </a:rPr>
              <a:t>is a type of artificial neural network with multiple layers between the input and output layers. It is called "deep" because it has more than one hidden layer, allowing it to learn complex patterns and features from the data.</a:t>
            </a:r>
            <a:endParaRPr lang="en-US" sz="200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The </a:t>
            </a:r>
            <a:r>
              <a:rPr lang="en-US" sz="2000" b="1">
                <a:latin typeface="Times New Roman" panose="02020603050405020304" pitchFamily="18" charset="0"/>
                <a:cs typeface="Times New Roman" panose="02020603050405020304" pitchFamily="18" charset="0"/>
                <a:sym typeface="+mn-ea"/>
              </a:rPr>
              <a:t>Whale Optimization Algorithm (WOA) </a:t>
            </a:r>
            <a:r>
              <a:rPr lang="en-US" sz="2000">
                <a:latin typeface="Times New Roman" panose="02020603050405020304" pitchFamily="18" charset="0"/>
                <a:cs typeface="Times New Roman" panose="02020603050405020304" pitchFamily="18" charset="0"/>
                <a:sym typeface="+mn-ea"/>
              </a:rPr>
              <a:t>is a nature-inspired optimization algorithm that mimics the hunting behavior of humpback whales. It is used to find optimal solutions to complex problems by simulating how whales encircle and trap prey in a bubble-net formation.</a:t>
            </a:r>
            <a:endParaRPr lang="en-US" sz="200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endParaRPr kumimoji="0" lang="en-IN" alt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244"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6</a:t>
            </a:fld>
            <a:endParaRPr lang="en-IN" altLang="en-US" sz="1200">
              <a:solidFill>
                <a:srgbClr val="898989"/>
              </a:solidFill>
              <a:ea typeface="Arial" panose="020B0604020202020204" pitchFamily="34" charset="0"/>
              <a:cs typeface="Arial" panose="020B0604020202020204" pitchFamily="34" charset="0"/>
            </a:endParaRPr>
          </a:p>
        </p:txBody>
      </p:sp>
      <p:pic>
        <p:nvPicPr>
          <p:cNvPr id="10245"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395288" y="415925"/>
            <a:ext cx="5278437" cy="885825"/>
          </a:xfrm>
        </p:spPr>
        <p:txBody>
          <a:bodyPr vert="horz" wrap="square" lIns="91440" tIns="45720" rIns="91440" bIns="45720" anchor="ctr" anchorCtr="0"/>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endParaRPr lang="en-IN" altLang="en-US" sz="2800" b="1">
              <a:solidFill>
                <a:srgbClr val="0070C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606425" y="1346200"/>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26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7</a:t>
            </a:fld>
            <a:endParaRPr lang="en-US" altLang="en-US" sz="1200">
              <a:solidFill>
                <a:srgbClr val="898989"/>
              </a:solidFill>
              <a:ea typeface="Arial" panose="020B0604020202020204" pitchFamily="34" charset="0"/>
              <a:cs typeface="Arial" panose="020B0604020202020204" pitchFamily="34" charset="0"/>
            </a:endParaRPr>
          </a:p>
        </p:txBody>
      </p:sp>
      <p:pic>
        <p:nvPicPr>
          <p:cNvPr id="1126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
        <p:nvSpPr>
          <p:cNvPr id="12291" name="Rectangle 3"/>
          <p:cNvSpPr/>
          <p:nvPr/>
        </p:nvSpPr>
        <p:spPr>
          <a:xfrm>
            <a:off x="3103563" y="474663"/>
            <a:ext cx="293687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endParaRPr lang="en-IN" altLang="en-US" sz="2800" b="1">
              <a:latin typeface="Times New Roman" panose="02020603050405020304" pitchFamily="18" charset="0"/>
              <a:ea typeface="Times New Roman" panose="02020603050405020304" pitchFamily="18" charset="0"/>
            </a:endParaRPr>
          </a:p>
        </p:txBody>
      </p:sp>
      <p:sp>
        <p:nvSpPr>
          <p:cNvPr id="12313" name="Rectangle 11"/>
          <p:cNvSpPr>
            <a:spLocks noChangeArrowheads="1"/>
          </p:cNvSpPr>
          <p:nvPr/>
        </p:nvSpPr>
        <p:spPr bwMode="auto">
          <a:xfrm>
            <a:off x="431800" y="1268413"/>
            <a:ext cx="8280400" cy="369888"/>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73025" marR="0" lvl="0" indent="0" algn="ctr" defTabSz="914400" rtl="0" eaLnBrk="1" fontAlgn="base" latinLnBrk="0" hangingPunct="1">
              <a:lnSpc>
                <a:spcPct val="100000"/>
              </a:lnSpc>
              <a:spcBef>
                <a:spcPct val="0"/>
              </a:spcBef>
              <a:spcAft>
                <a:spcPct val="0"/>
              </a:spcAft>
              <a:buClrTx/>
              <a:buSzTx/>
              <a:buFontTx/>
              <a:buNone/>
              <a:defRPr/>
            </a:pPr>
            <a:r>
              <a:rPr kumimoji="0" lang="en-US" altLang="en-US" sz="1800" b="1" i="0" u="none" strike="noStrike" kern="1200" cap="none" spc="0" normalizeH="0" baseline="0" noProof="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Table 1: Literature Survey</a:t>
            </a:r>
            <a:endParaRPr kumimoji="0" lang="en-US" altLang="en-US" sz="1050" b="1" i="0" u="none" strike="noStrike" kern="1200" cap="none" spc="0" normalizeH="0" baseline="0" noProof="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6" name="Table 5"/>
          <p:cNvGraphicFramePr>
            <a:graphicFrameLocks noGrp="1"/>
          </p:cNvGraphicFramePr>
          <p:nvPr/>
        </p:nvGraphicFramePr>
        <p:xfrm>
          <a:off x="620395" y="2035810"/>
          <a:ext cx="7696835" cy="3860165"/>
        </p:xfrm>
        <a:graphic>
          <a:graphicData uri="http://schemas.openxmlformats.org/drawingml/2006/table">
            <a:tbl>
              <a:tblPr firstRow="1" firstCol="1" bandRow="1"/>
              <a:tblGrid>
                <a:gridCol w="1155700">
                  <a:extLst>
                    <a:ext uri="{9D8B030D-6E8A-4147-A177-3AD203B41FA5}">
                      <a16:colId xmlns:a16="http://schemas.microsoft.com/office/drawing/2014/main" val="20000"/>
                    </a:ext>
                  </a:extLst>
                </a:gridCol>
                <a:gridCol w="1175385">
                  <a:extLst>
                    <a:ext uri="{9D8B030D-6E8A-4147-A177-3AD203B41FA5}">
                      <a16:colId xmlns:a16="http://schemas.microsoft.com/office/drawing/2014/main" val="20001"/>
                    </a:ext>
                  </a:extLst>
                </a:gridCol>
                <a:gridCol w="1973580">
                  <a:extLst>
                    <a:ext uri="{9D8B030D-6E8A-4147-A177-3AD203B41FA5}">
                      <a16:colId xmlns:a16="http://schemas.microsoft.com/office/drawing/2014/main" val="20002"/>
                    </a:ext>
                  </a:extLst>
                </a:gridCol>
                <a:gridCol w="1630045">
                  <a:extLst>
                    <a:ext uri="{9D8B030D-6E8A-4147-A177-3AD203B41FA5}">
                      <a16:colId xmlns:a16="http://schemas.microsoft.com/office/drawing/2014/main" val="20003"/>
                    </a:ext>
                  </a:extLst>
                </a:gridCol>
                <a:gridCol w="1762125">
                  <a:extLst>
                    <a:ext uri="{9D8B030D-6E8A-4147-A177-3AD203B41FA5}">
                      <a16:colId xmlns:a16="http://schemas.microsoft.com/office/drawing/2014/main" val="20004"/>
                    </a:ext>
                  </a:extLst>
                </a:gridCol>
              </a:tblGrid>
              <a:tr h="93408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sym typeface="+mn-ea"/>
                        </a:rPr>
                        <a:t>S</a:t>
                      </a:r>
                      <a:r>
                        <a:rPr lang="en-US" sz="1600" b="1">
                          <a:effectLst/>
                          <a:latin typeface="Times New Roman" panose="02020603050405020304" pitchFamily="18" charset="0"/>
                          <a:ea typeface="Calibri" panose="020F0502020204030204"/>
                          <a:cs typeface="Times New Roman" panose="02020603050405020304" pitchFamily="18" charset="0"/>
                        </a:rPr>
                        <a:t>.</a:t>
                      </a:r>
                      <a:r>
                        <a:rPr lang="en-US" sz="1600" b="1">
                          <a:effectLst/>
                          <a:latin typeface="Times New Roman" panose="02020603050405020304" pitchFamily="18" charset="0"/>
                          <a:ea typeface="Calibri" panose="020F0502020204030204"/>
                          <a:cs typeface="Times New Roman" panose="02020603050405020304" pitchFamily="18" charset="0"/>
                          <a:sym typeface="+mn-ea"/>
                        </a:rPr>
                        <a:t>No. </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2608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US" sz="1600" b="1">
                          <a:effectLst/>
                          <a:latin typeface="Times New Roman" panose="02020603050405020304" pitchFamily="18" charset="0"/>
                          <a:ea typeface="Calibri" panose="020F0502020204030204"/>
                          <a:cs typeface="Times New Roman" panose="02020603050405020304" pitchFamily="18" charset="0"/>
                        </a:rPr>
                        <a:t>1.</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0">
                          <a:effectLst/>
                          <a:latin typeface="Times New Roman" panose="02020603050405020304" pitchFamily="18" charset="0"/>
                          <a:ea typeface="Calibri" panose="020F0502020204030204"/>
                          <a:cs typeface="Times New Roman" panose="02020603050405020304" pitchFamily="18" charset="0"/>
                        </a:rPr>
                        <a:t> </a:t>
                      </a:r>
                      <a:r>
                        <a:rPr lang="en-US" sz="1600" b="0" i="0" kern="1200">
                          <a:solidFill>
                            <a:schemeClr val="tx1"/>
                          </a:solidFill>
                          <a:effectLst/>
                          <a:latin typeface="Times New Roman" panose="02020603050405020304" pitchFamily="18" charset="0"/>
                          <a:ea typeface="+mn-ea"/>
                          <a:cs typeface="Times New Roman" panose="02020603050405020304" pitchFamily="18" charset="0"/>
                        </a:rPr>
                        <a:t>Personal loan default prediction and impact analysis of debt/DR raj Gopal April 2023</a:t>
                      </a:r>
                      <a:endParaRPr lang="en-IN" sz="1600" b="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0">
                          <a:effectLst/>
                          <a:latin typeface="Times New Roman" panose="02020603050405020304" pitchFamily="18" charset="0"/>
                          <a:ea typeface="Calibri" panose="020F0502020204030204"/>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It highlights how debt levels influence default risks, emphasizing the importance of early intervention strategies to mitigate financial loss.</a:t>
                      </a:r>
                      <a:r>
                        <a:rPr lang="en-US" sz="1600" b="0">
                          <a:latin typeface="Times New Roman" panose="02020603050405020304" pitchFamily="18" charset="0"/>
                          <a:cs typeface="Times New Roman" panose="02020603050405020304" pitchFamily="18" charset="0"/>
                        </a:rPr>
                        <a:t>.</a:t>
                      </a:r>
                      <a:endParaRPr lang="en-IN" sz="1600" b="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Logistics Regression, SVM</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Expand dataset for better generalization</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3315" name="Rectangle 3"/>
          <p:cNvSpPr/>
          <p:nvPr/>
        </p:nvSpPr>
        <p:spPr>
          <a:xfrm>
            <a:off x="2268538" y="620713"/>
            <a:ext cx="4156075"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3316" name="Rectangle 2"/>
          <p:cNvSpPr/>
          <p:nvPr/>
        </p:nvSpPr>
        <p:spPr>
          <a:xfrm>
            <a:off x="2398713" y="1420813"/>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6" name="Table 5"/>
          <p:cNvGraphicFramePr>
            <a:graphicFrameLocks noGrp="1"/>
          </p:cNvGraphicFramePr>
          <p:nvPr>
            <p:custDataLst>
              <p:tags r:id="rId1"/>
            </p:custDataLst>
          </p:nvPr>
        </p:nvGraphicFramePr>
        <p:xfrm>
          <a:off x="323215" y="1917065"/>
          <a:ext cx="8190865" cy="4203065"/>
        </p:xfrm>
        <a:graphic>
          <a:graphicData uri="http://schemas.openxmlformats.org/drawingml/2006/table">
            <a:tbl>
              <a:tblPr firstRow="1" firstCol="1" bandRow="1"/>
              <a:tblGrid>
                <a:gridCol w="1229995">
                  <a:extLst>
                    <a:ext uri="{9D8B030D-6E8A-4147-A177-3AD203B41FA5}">
                      <a16:colId xmlns:a16="http://schemas.microsoft.com/office/drawing/2014/main" val="20000"/>
                    </a:ext>
                  </a:extLst>
                </a:gridCol>
                <a:gridCol w="1250950">
                  <a:extLst>
                    <a:ext uri="{9D8B030D-6E8A-4147-A177-3AD203B41FA5}">
                      <a16:colId xmlns:a16="http://schemas.microsoft.com/office/drawing/2014/main" val="20001"/>
                    </a:ext>
                  </a:extLst>
                </a:gridCol>
                <a:gridCol w="2099945">
                  <a:extLst>
                    <a:ext uri="{9D8B030D-6E8A-4147-A177-3AD203B41FA5}">
                      <a16:colId xmlns:a16="http://schemas.microsoft.com/office/drawing/2014/main" val="20002"/>
                    </a:ext>
                  </a:extLst>
                </a:gridCol>
                <a:gridCol w="1734820">
                  <a:extLst>
                    <a:ext uri="{9D8B030D-6E8A-4147-A177-3AD203B41FA5}">
                      <a16:colId xmlns:a16="http://schemas.microsoft.com/office/drawing/2014/main" val="20003"/>
                    </a:ext>
                  </a:extLst>
                </a:gridCol>
                <a:gridCol w="1875155">
                  <a:extLst>
                    <a:ext uri="{9D8B030D-6E8A-4147-A177-3AD203B41FA5}">
                      <a16:colId xmlns:a16="http://schemas.microsoft.com/office/drawing/2014/main" val="20004"/>
                    </a:ext>
                  </a:extLst>
                </a:gridCol>
              </a:tblGrid>
              <a:tr h="73152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sym typeface="+mn-ea"/>
                        </a:rPr>
                        <a:t>S</a:t>
                      </a:r>
                      <a:r>
                        <a:rPr lang="en-US" sz="1600" b="1">
                          <a:effectLst/>
                          <a:latin typeface="Times New Roman" panose="02020603050405020304" pitchFamily="18" charset="0"/>
                          <a:ea typeface="Calibri" panose="020F0502020204030204"/>
                          <a:cs typeface="Times New Roman" panose="02020603050405020304" pitchFamily="18" charset="0"/>
                        </a:rPr>
                        <a:t>.</a:t>
                      </a:r>
                      <a:r>
                        <a:rPr lang="en-US" sz="1600" b="1">
                          <a:effectLst/>
                          <a:latin typeface="Times New Roman" panose="02020603050405020304" pitchFamily="18" charset="0"/>
                          <a:ea typeface="Calibri" panose="020F0502020204030204"/>
                          <a:cs typeface="Times New Roman" panose="02020603050405020304" pitchFamily="18" charset="0"/>
                          <a:sym typeface="+mn-ea"/>
                        </a:rPr>
                        <a:t>No. </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7154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200" b="1">
                          <a:effectLst/>
                          <a:latin typeface="Times New Roman" panose="02020603050405020304" pitchFamily="18" charset="0"/>
                          <a:ea typeface="Calibri" panose="020F0502020204030204"/>
                          <a:cs typeface="Times New Roman" panose="02020603050405020304" pitchFamily="18" charset="0"/>
                        </a:rPr>
                        <a:t> </a:t>
                      </a:r>
                      <a:r>
                        <a:rPr lang="en-US" sz="1600" b="1">
                          <a:effectLst/>
                          <a:latin typeface="Times New Roman" panose="02020603050405020304" pitchFamily="18" charset="0"/>
                          <a:ea typeface="Calibri" panose="020F0502020204030204"/>
                          <a:cs typeface="Times New Roman" panose="02020603050405020304" pitchFamily="18" charset="0"/>
                        </a:rPr>
                        <a:t>2.</a:t>
                      </a: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b="0">
                          <a:effectLst/>
                          <a:latin typeface="Times New Roman" panose="02020603050405020304" pitchFamily="18" charset="0"/>
                          <a:ea typeface="Calibri" panose="020F0502020204030204"/>
                          <a:cs typeface="Times New Roman" panose="02020603050405020304" pitchFamily="18" charset="0"/>
                        </a:rPr>
                        <a:t> </a:t>
                      </a:r>
                      <a:r>
                        <a:rPr lang="en-US" sz="1400" b="0" i="0" kern="1200">
                          <a:solidFill>
                            <a:schemeClr val="tx1"/>
                          </a:solidFill>
                          <a:effectLst/>
                          <a:latin typeface="Times New Roman" panose="02020603050405020304" pitchFamily="18" charset="0"/>
                          <a:ea typeface="+mn-ea"/>
                          <a:cs typeface="Times New Roman" panose="02020603050405020304" pitchFamily="18" charset="0"/>
                        </a:rPr>
                        <a:t>Research on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credut</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risk models via machine learning algorithm and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logestic</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regression for prediction/</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kera</a:t>
                      </a: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a:latin typeface="Times New Roman" panose="02020603050405020304" pitchFamily="18" charset="0"/>
                          <a:cs typeface="Times New Roman" panose="02020603050405020304" pitchFamily="18" charset="0"/>
                        </a:rPr>
                        <a:t>It compares these models in terms of accuracy and efficiency, highlighting their strengths in identifying potential defaulters and managing financial risks effectively.</a:t>
                      </a:r>
                    </a:p>
                    <a:p>
                      <a:pPr algn="l">
                        <a:lnSpc>
                          <a:spcPct val="150000"/>
                        </a:lnSpc>
                        <a:spcAft>
                          <a:spcPts val="0"/>
                        </a:spcAft>
                      </a:pPr>
                      <a:endParaRPr lang="en-US" sz="14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4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Decision trees, XG Boost</a:t>
                      </a: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Simplifying interface for users</a:t>
                      </a: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Text Box 6"/>
          <p:cNvSpPr txBox="1"/>
          <p:nvPr/>
        </p:nvSpPr>
        <p:spPr>
          <a:xfrm>
            <a:off x="8699500" y="3818255"/>
            <a:ext cx="3048000" cy="368300"/>
          </a:xfrm>
          <a:prstGeom prst="rect">
            <a:avLst/>
          </a:prstGeom>
          <a:noFill/>
        </p:spPr>
        <p:txBody>
          <a:bodyPr wrap="square" rtlCol="0">
            <a:spAutoFit/>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4339" name="Rectangle 3"/>
          <p:cNvSpPr/>
          <p:nvPr/>
        </p:nvSpPr>
        <p:spPr>
          <a:xfrm>
            <a:off x="2305050" y="465138"/>
            <a:ext cx="41576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4340" name="Rectangle 2"/>
          <p:cNvSpPr/>
          <p:nvPr/>
        </p:nvSpPr>
        <p:spPr>
          <a:xfrm>
            <a:off x="2398713" y="1225550"/>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6" name="Table 5"/>
          <p:cNvGraphicFramePr>
            <a:graphicFrameLocks noGrp="1"/>
          </p:cNvGraphicFramePr>
          <p:nvPr>
            <p:custDataLst>
              <p:tags r:id="rId1"/>
            </p:custDataLst>
          </p:nvPr>
        </p:nvGraphicFramePr>
        <p:xfrm>
          <a:off x="323215" y="1712595"/>
          <a:ext cx="8190865" cy="4569270"/>
        </p:xfrm>
        <a:graphic>
          <a:graphicData uri="http://schemas.openxmlformats.org/drawingml/2006/table">
            <a:tbl>
              <a:tblPr firstRow="1" firstCol="1" bandRow="1"/>
              <a:tblGrid>
                <a:gridCol w="1229995">
                  <a:extLst>
                    <a:ext uri="{9D8B030D-6E8A-4147-A177-3AD203B41FA5}">
                      <a16:colId xmlns:a16="http://schemas.microsoft.com/office/drawing/2014/main" val="20000"/>
                    </a:ext>
                  </a:extLst>
                </a:gridCol>
                <a:gridCol w="1250950">
                  <a:extLst>
                    <a:ext uri="{9D8B030D-6E8A-4147-A177-3AD203B41FA5}">
                      <a16:colId xmlns:a16="http://schemas.microsoft.com/office/drawing/2014/main" val="20001"/>
                    </a:ext>
                  </a:extLst>
                </a:gridCol>
                <a:gridCol w="2099945">
                  <a:extLst>
                    <a:ext uri="{9D8B030D-6E8A-4147-A177-3AD203B41FA5}">
                      <a16:colId xmlns:a16="http://schemas.microsoft.com/office/drawing/2014/main" val="20002"/>
                    </a:ext>
                  </a:extLst>
                </a:gridCol>
                <a:gridCol w="1734820">
                  <a:extLst>
                    <a:ext uri="{9D8B030D-6E8A-4147-A177-3AD203B41FA5}">
                      <a16:colId xmlns:a16="http://schemas.microsoft.com/office/drawing/2014/main" val="20003"/>
                    </a:ext>
                  </a:extLst>
                </a:gridCol>
                <a:gridCol w="1875155">
                  <a:extLst>
                    <a:ext uri="{9D8B030D-6E8A-4147-A177-3AD203B41FA5}">
                      <a16:colId xmlns:a16="http://schemas.microsoft.com/office/drawing/2014/main" val="20004"/>
                    </a:ext>
                  </a:extLst>
                </a:gridCol>
              </a:tblGrid>
              <a:tr h="76708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sym typeface="+mn-ea"/>
                        </a:rPr>
                        <a:t>S</a:t>
                      </a:r>
                      <a:r>
                        <a:rPr lang="en-US" sz="1600" b="1">
                          <a:effectLst/>
                          <a:latin typeface="Times New Roman" panose="02020603050405020304" pitchFamily="18" charset="0"/>
                          <a:ea typeface="Calibri" panose="020F0502020204030204"/>
                          <a:cs typeface="Times New Roman" panose="02020603050405020304" pitchFamily="18" charset="0"/>
                        </a:rPr>
                        <a:t>.</a:t>
                      </a:r>
                      <a:r>
                        <a:rPr lang="en-US" sz="1600" b="1">
                          <a:effectLst/>
                          <a:latin typeface="Times New Roman" panose="02020603050405020304" pitchFamily="18" charset="0"/>
                          <a:ea typeface="Calibri" panose="020F0502020204030204"/>
                          <a:cs typeface="Times New Roman" panose="02020603050405020304" pitchFamily="18" charset="0"/>
                          <a:sym typeface="+mn-ea"/>
                        </a:rPr>
                        <a:t>No. </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4045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3 .</a:t>
                      </a: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just">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b="0">
                          <a:effectLst/>
                          <a:latin typeface="Times New Roman" panose="02020603050405020304" pitchFamily="18" charset="0"/>
                          <a:ea typeface="Calibri" panose="020F0502020204030204"/>
                          <a:cs typeface="Times New Roman" panose="02020603050405020304" pitchFamily="18" charset="0"/>
                        </a:rPr>
                        <a:t> </a:t>
                      </a:r>
                      <a:r>
                        <a:rPr lang="en-IN" sz="1400">
                          <a:effectLst/>
                          <a:latin typeface="Times New Roman" panose="02020603050405020304" pitchFamily="18" charset="0"/>
                          <a:cs typeface="Times New Roman" panose="02020603050405020304" pitchFamily="18" charset="0"/>
                          <a:sym typeface="+mn-ea"/>
                        </a:rPr>
                        <a:t>Credit default via interpretable ensemble </a:t>
                      </a:r>
                      <a:r>
                        <a:rPr lang="en-IN" sz="1400" err="1">
                          <a:effectLst/>
                          <a:latin typeface="Times New Roman" panose="02020603050405020304" pitchFamily="18" charset="0"/>
                          <a:cs typeface="Times New Roman" panose="02020603050405020304" pitchFamily="18" charset="0"/>
                          <a:sym typeface="+mn-ea"/>
                        </a:rPr>
                        <a:t>tranfer</a:t>
                      </a:r>
                      <a:r>
                        <a:rPr lang="en-IN" sz="1400">
                          <a:effectLst/>
                          <a:latin typeface="Times New Roman" panose="02020603050405020304" pitchFamily="18" charset="0"/>
                          <a:cs typeface="Times New Roman" panose="02020603050405020304" pitchFamily="18" charset="0"/>
                          <a:sym typeface="+mn-ea"/>
                        </a:rPr>
                        <a:t>/</a:t>
                      </a:r>
                      <a:r>
                        <a:rPr lang="en-IN" sz="1400" err="1">
                          <a:effectLst/>
                          <a:latin typeface="Times New Roman" panose="02020603050405020304" pitchFamily="18" charset="0"/>
                          <a:cs typeface="Times New Roman" panose="02020603050405020304" pitchFamily="18" charset="0"/>
                          <a:sym typeface="+mn-ea"/>
                        </a:rPr>
                        <a:t>p.oladejo</a:t>
                      </a:r>
                      <a:r>
                        <a:rPr lang="en-IN" sz="1400">
                          <a:effectLst/>
                          <a:latin typeface="Times New Roman" panose="02020603050405020304" pitchFamily="18" charset="0"/>
                          <a:cs typeface="Times New Roman" panose="02020603050405020304" pitchFamily="18" charset="0"/>
                          <a:sym typeface="+mn-ea"/>
                        </a:rPr>
                        <a:t> </a:t>
                      </a:r>
                      <a:r>
                        <a:rPr lang="en-IN" sz="1400" err="1">
                          <a:effectLst/>
                          <a:latin typeface="Times New Roman" panose="02020603050405020304" pitchFamily="18" charset="0"/>
                          <a:cs typeface="Times New Roman" panose="02020603050405020304" pitchFamily="18" charset="0"/>
                          <a:sym typeface="+mn-ea"/>
                        </a:rPr>
                        <a:t>juhe</a:t>
                      </a:r>
                      <a:r>
                        <a:rPr lang="en-IN" sz="1400">
                          <a:effectLst/>
                          <a:latin typeface="Times New Roman" panose="02020603050405020304" pitchFamily="18" charset="0"/>
                          <a:cs typeface="Times New Roman" panose="02020603050405020304" pitchFamily="18" charset="0"/>
                          <a:sym typeface="+mn-ea"/>
                        </a:rPr>
                        <a:t> 2024</a:t>
                      </a: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a:effectLst/>
                          <a:latin typeface="Times New Roman" panose="02020603050405020304" pitchFamily="18" charset="0"/>
                          <a:ea typeface="Calibri" panose="020F0502020204030204"/>
                          <a:cs typeface="Times New Roman" panose="02020603050405020304" pitchFamily="18" charset="0"/>
                          <a:sym typeface="+mn-ea"/>
                        </a:rPr>
                        <a:t>By incorporating data from multiple domains and adjusting the weights of different datasets, </a:t>
                      </a:r>
                      <a:r>
                        <a:rPr lang="en-US" sz="1400" err="1">
                          <a:effectLst/>
                          <a:latin typeface="Times New Roman" panose="02020603050405020304" pitchFamily="18" charset="0"/>
                          <a:ea typeface="Calibri" panose="020F0502020204030204"/>
                          <a:cs typeface="Times New Roman" panose="02020603050405020304" pitchFamily="18" charset="0"/>
                          <a:sym typeface="+mn-ea"/>
                        </a:rPr>
                        <a:t>TrLightGBM</a:t>
                      </a:r>
                      <a:r>
                        <a:rPr lang="en-US" sz="1400">
                          <a:effectLst/>
                          <a:latin typeface="Times New Roman" panose="02020603050405020304" pitchFamily="18" charset="0"/>
                          <a:ea typeface="Calibri" panose="020F0502020204030204"/>
                          <a:cs typeface="Times New Roman" panose="02020603050405020304" pitchFamily="18" charset="0"/>
                          <a:sym typeface="+mn-ea"/>
                        </a:rPr>
                        <a:t> enhances prediction accuracy and transparency, making it more reliable for credit risk assessment.</a:t>
                      </a:r>
                      <a:endParaRPr lang="en-IN" sz="14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4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4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sym typeface="+mn-ea"/>
                        </a:rPr>
                        <a:t>SVM, Logistic regression</a:t>
                      </a: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sym typeface="+mn-ea"/>
                        </a:rPr>
                        <a:t>Challenges remain in handling imbalanced datasets and improving model interpretability</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5363" name="Rectangle 3"/>
          <p:cNvSpPr/>
          <p:nvPr/>
        </p:nvSpPr>
        <p:spPr>
          <a:xfrm>
            <a:off x="2305050" y="465138"/>
            <a:ext cx="41576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5364" name="Rectangle 2"/>
          <p:cNvSpPr/>
          <p:nvPr/>
        </p:nvSpPr>
        <p:spPr>
          <a:xfrm>
            <a:off x="2398713" y="1225550"/>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4" name="Table 3"/>
          <p:cNvGraphicFramePr>
            <a:graphicFrameLocks noGrp="1"/>
          </p:cNvGraphicFramePr>
          <p:nvPr>
            <p:custDataLst>
              <p:tags r:id="rId1"/>
            </p:custDataLst>
          </p:nvPr>
        </p:nvGraphicFramePr>
        <p:xfrm>
          <a:off x="124460" y="1772920"/>
          <a:ext cx="8895715" cy="3581400"/>
        </p:xfrm>
        <a:graphic>
          <a:graphicData uri="http://schemas.openxmlformats.org/drawingml/2006/table">
            <a:tbl>
              <a:tblPr firstRow="1" firstCol="1" bandRow="1"/>
              <a:tblGrid>
                <a:gridCol w="904875">
                  <a:extLst>
                    <a:ext uri="{9D8B030D-6E8A-4147-A177-3AD203B41FA5}">
                      <a16:colId xmlns:a16="http://schemas.microsoft.com/office/drawing/2014/main" val="20000"/>
                    </a:ext>
                  </a:extLst>
                </a:gridCol>
                <a:gridCol w="1699260">
                  <a:extLst>
                    <a:ext uri="{9D8B030D-6E8A-4147-A177-3AD203B41FA5}">
                      <a16:colId xmlns:a16="http://schemas.microsoft.com/office/drawing/2014/main" val="20001"/>
                    </a:ext>
                  </a:extLst>
                </a:gridCol>
                <a:gridCol w="2907030">
                  <a:extLst>
                    <a:ext uri="{9D8B030D-6E8A-4147-A177-3AD203B41FA5}">
                      <a16:colId xmlns:a16="http://schemas.microsoft.com/office/drawing/2014/main" val="20002"/>
                    </a:ext>
                  </a:extLst>
                </a:gridCol>
                <a:gridCol w="1398270">
                  <a:extLst>
                    <a:ext uri="{9D8B030D-6E8A-4147-A177-3AD203B41FA5}">
                      <a16:colId xmlns:a16="http://schemas.microsoft.com/office/drawing/2014/main" val="20003"/>
                    </a:ext>
                  </a:extLst>
                </a:gridCol>
                <a:gridCol w="1986280">
                  <a:extLst>
                    <a:ext uri="{9D8B030D-6E8A-4147-A177-3AD203B41FA5}">
                      <a16:colId xmlns:a16="http://schemas.microsoft.com/office/drawing/2014/main" val="20004"/>
                    </a:ext>
                  </a:extLst>
                </a:gridCol>
              </a:tblGrid>
              <a:tr h="74993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S. No.</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3146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4.</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b="0" i="0" kern="1200">
                          <a:solidFill>
                            <a:schemeClr val="tx1"/>
                          </a:solidFill>
                          <a:effectLst/>
                          <a:latin typeface="Times New Roman" panose="02020603050405020304" pitchFamily="18" charset="0"/>
                          <a:ea typeface="+mn-ea"/>
                          <a:cs typeface="Times New Roman" panose="02020603050405020304" pitchFamily="18" charset="0"/>
                        </a:rPr>
                        <a:t>Advanced fraud detection method for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dnn</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.sep.23</a:t>
                      </a: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The study leverages the ability of DNNs to learn complex patterns from large datasets, making them particularly effective in the dynamic landscape of financial fraud.</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Feature Selection and Engineering, Data Preprocessing</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It highlights the potential of advance deep neural networks for effective fraud detection.</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6387" name="Rectangle 3"/>
          <p:cNvSpPr/>
          <p:nvPr/>
        </p:nvSpPr>
        <p:spPr>
          <a:xfrm>
            <a:off x="2305050" y="465138"/>
            <a:ext cx="41576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6388" name="Rectangle 2"/>
          <p:cNvSpPr/>
          <p:nvPr/>
        </p:nvSpPr>
        <p:spPr>
          <a:xfrm>
            <a:off x="2398713" y="1225550"/>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4" name="Table 3"/>
          <p:cNvGraphicFramePr>
            <a:graphicFrameLocks noGrp="1"/>
          </p:cNvGraphicFramePr>
          <p:nvPr>
            <p:custDataLst>
              <p:tags r:id="rId1"/>
            </p:custDataLst>
          </p:nvPr>
        </p:nvGraphicFramePr>
        <p:xfrm>
          <a:off x="107315" y="1988820"/>
          <a:ext cx="8785225" cy="3763645"/>
        </p:xfrm>
        <a:graphic>
          <a:graphicData uri="http://schemas.openxmlformats.org/drawingml/2006/table">
            <a:tbl>
              <a:tblPr firstRow="1" firstCol="1" bandRow="1"/>
              <a:tblGrid>
                <a:gridCol w="904875">
                  <a:extLst>
                    <a:ext uri="{9D8B030D-6E8A-4147-A177-3AD203B41FA5}">
                      <a16:colId xmlns:a16="http://schemas.microsoft.com/office/drawing/2014/main" val="20000"/>
                    </a:ext>
                  </a:extLst>
                </a:gridCol>
                <a:gridCol w="1699260">
                  <a:extLst>
                    <a:ext uri="{9D8B030D-6E8A-4147-A177-3AD203B41FA5}">
                      <a16:colId xmlns:a16="http://schemas.microsoft.com/office/drawing/2014/main" val="20001"/>
                    </a:ext>
                  </a:extLst>
                </a:gridCol>
                <a:gridCol w="2907030">
                  <a:extLst>
                    <a:ext uri="{9D8B030D-6E8A-4147-A177-3AD203B41FA5}">
                      <a16:colId xmlns:a16="http://schemas.microsoft.com/office/drawing/2014/main" val="20002"/>
                    </a:ext>
                  </a:extLst>
                </a:gridCol>
                <a:gridCol w="1398270">
                  <a:extLst>
                    <a:ext uri="{9D8B030D-6E8A-4147-A177-3AD203B41FA5}">
                      <a16:colId xmlns:a16="http://schemas.microsoft.com/office/drawing/2014/main" val="20003"/>
                    </a:ext>
                  </a:extLst>
                </a:gridCol>
                <a:gridCol w="1875790">
                  <a:extLst>
                    <a:ext uri="{9D8B030D-6E8A-4147-A177-3AD203B41FA5}">
                      <a16:colId xmlns:a16="http://schemas.microsoft.com/office/drawing/2014/main" val="20004"/>
                    </a:ext>
                  </a:extLst>
                </a:gridCol>
              </a:tblGrid>
              <a:tr h="88138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S. No.</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8226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5.</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b="0" i="0" kern="1200">
                          <a:solidFill>
                            <a:schemeClr val="tx1"/>
                          </a:solidFill>
                          <a:effectLst/>
                          <a:latin typeface="Times New Roman" panose="02020603050405020304" pitchFamily="18" charset="0"/>
                          <a:ea typeface="+mn-ea"/>
                          <a:cs typeface="Times New Roman" panose="02020603050405020304" pitchFamily="18" charset="0"/>
                        </a:rPr>
                        <a:t>Advanced fraud detection method for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dnn</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.sep.23</a:t>
                      </a: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The study leverages the ability of DNNs to learn complex patterns from large datasets, making them particularly effective in the dynamic landscape of financial fraud.</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Feature Selection and Engineering, Data Preprocessing</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It highlights the potential of advance deep neural networks for effective fraud detection.</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7411" name="Rectangle 3"/>
          <p:cNvSpPr/>
          <p:nvPr/>
        </p:nvSpPr>
        <p:spPr>
          <a:xfrm>
            <a:off x="2341245" y="476568"/>
            <a:ext cx="41576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7412" name="Rectangle 2"/>
          <p:cNvSpPr/>
          <p:nvPr/>
        </p:nvSpPr>
        <p:spPr>
          <a:xfrm>
            <a:off x="2398713" y="1225550"/>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4" name="Table 3"/>
          <p:cNvGraphicFramePr>
            <a:graphicFrameLocks noGrp="1"/>
          </p:cNvGraphicFramePr>
          <p:nvPr>
            <p:custDataLst>
              <p:tags r:id="rId1"/>
            </p:custDataLst>
          </p:nvPr>
        </p:nvGraphicFramePr>
        <p:xfrm>
          <a:off x="35560" y="1625600"/>
          <a:ext cx="8978265" cy="5694045"/>
        </p:xfrm>
        <a:graphic>
          <a:graphicData uri="http://schemas.openxmlformats.org/drawingml/2006/table">
            <a:tbl>
              <a:tblPr firstRow="1" firstCol="1" bandRow="1"/>
              <a:tblGrid>
                <a:gridCol w="739140">
                  <a:extLst>
                    <a:ext uri="{9D8B030D-6E8A-4147-A177-3AD203B41FA5}">
                      <a16:colId xmlns:a16="http://schemas.microsoft.com/office/drawing/2014/main" val="20000"/>
                    </a:ext>
                  </a:extLst>
                </a:gridCol>
                <a:gridCol w="1964690">
                  <a:extLst>
                    <a:ext uri="{9D8B030D-6E8A-4147-A177-3AD203B41FA5}">
                      <a16:colId xmlns:a16="http://schemas.microsoft.com/office/drawing/2014/main" val="20001"/>
                    </a:ext>
                  </a:extLst>
                </a:gridCol>
                <a:gridCol w="3101340">
                  <a:extLst>
                    <a:ext uri="{9D8B030D-6E8A-4147-A177-3AD203B41FA5}">
                      <a16:colId xmlns:a16="http://schemas.microsoft.com/office/drawing/2014/main" val="20002"/>
                    </a:ext>
                  </a:extLst>
                </a:gridCol>
                <a:gridCol w="1494155">
                  <a:extLst>
                    <a:ext uri="{9D8B030D-6E8A-4147-A177-3AD203B41FA5}">
                      <a16:colId xmlns:a16="http://schemas.microsoft.com/office/drawing/2014/main" val="20003"/>
                    </a:ext>
                  </a:extLst>
                </a:gridCol>
                <a:gridCol w="1678940">
                  <a:extLst>
                    <a:ext uri="{9D8B030D-6E8A-4147-A177-3AD203B41FA5}">
                      <a16:colId xmlns:a16="http://schemas.microsoft.com/office/drawing/2014/main" val="20004"/>
                    </a:ext>
                  </a:extLst>
                </a:gridCol>
              </a:tblGrid>
              <a:tr h="5694045">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6.</a:t>
                      </a: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7.</a:t>
                      </a:r>
                    </a:p>
                  </a:txBody>
                  <a:tcPr marL="68598" marR="685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Comparision</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of machine learning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clsscification</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models for credit card default data.</a:t>
                      </a: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endParaRPr lang="en-US"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r>
                        <a:rPr lang="en-US" sz="1400" b="0" i="0" kern="1200">
                          <a:solidFill>
                            <a:schemeClr val="tx1"/>
                          </a:solidFill>
                          <a:effectLst/>
                          <a:latin typeface="Times New Roman" panose="02020603050405020304" pitchFamily="18" charset="0"/>
                          <a:ea typeface="+mn-ea"/>
                          <a:cs typeface="Times New Roman" panose="02020603050405020304" pitchFamily="18" charset="0"/>
                        </a:rPr>
                        <a:t>Identification of Potential Future Credit Card Defaulters from non Defaulter using Self </a:t>
                      </a:r>
                      <a:r>
                        <a:rPr lang="en-US" sz="1400" b="0" i="0" kern="1200" err="1">
                          <a:solidFill>
                            <a:schemeClr val="tx1"/>
                          </a:solidFill>
                          <a:effectLst/>
                          <a:latin typeface="Times New Roman" panose="02020603050405020304" pitchFamily="18" charset="0"/>
                          <a:ea typeface="+mn-ea"/>
                          <a:cs typeface="Times New Roman" panose="02020603050405020304" pitchFamily="18" charset="0"/>
                        </a:rPr>
                        <a:t>Oraganizing</a:t>
                      </a:r>
                      <a:r>
                        <a:rPr lang="en-US" sz="1400" b="0" i="0" kern="1200">
                          <a:solidFill>
                            <a:schemeClr val="tx1"/>
                          </a:solidFill>
                          <a:effectLst/>
                          <a:latin typeface="Times New Roman" panose="02020603050405020304" pitchFamily="18" charset="0"/>
                          <a:ea typeface="+mn-ea"/>
                          <a:cs typeface="Times New Roman" panose="02020603050405020304" pitchFamily="18" charset="0"/>
                        </a:rPr>
                        <a:t> maps</a:t>
                      </a: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98" marR="685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studies comparing machine learning classification models for credit card default prediction. and classify the data models.</a:t>
                      </a: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SOM is a type of unsupervised neural network that helps in clustering and visualizing high-dimensional data, making it suitable for identifying patterns that may indicate the likelihood of default.</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98" marR="685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SVM , XG Boost</a:t>
                      </a: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IN"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IN" sz="1600">
                          <a:effectLst/>
                          <a:latin typeface="Times New Roman" panose="02020603050405020304" pitchFamily="18" charset="0"/>
                          <a:ea typeface="Calibri" panose="020F0502020204030204"/>
                          <a:cs typeface="Times New Roman" panose="02020603050405020304" pitchFamily="18" charset="0"/>
                        </a:rPr>
                        <a:t>Clustering analysis, Self organization maps</a:t>
                      </a:r>
                    </a:p>
                  </a:txBody>
                  <a:tcPr marL="68598" marR="685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Challenges remain in handling imbalanced datasets and improving model interpretability</a:t>
                      </a: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Addressing the identified research gaps could lead to more robust models that enhance prediction.</a:t>
                      </a:r>
                    </a:p>
                  </a:txBody>
                  <a:tcPr marL="68598" marR="685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D:\GITAM-GST-CSE\2024-25\Capstone-Project\GITAM-newlogo.jpeg"/>
          <p:cNvPicPr>
            <a:picLocks noChangeAspect="1"/>
          </p:cNvPicPr>
          <p:nvPr/>
        </p:nvPicPr>
        <p:blipFill>
          <a:blip r:embed="rId3"/>
          <a:stretch>
            <a:fillRect/>
          </a:stretch>
        </p:blipFill>
        <p:spPr>
          <a:xfrm>
            <a:off x="6804025" y="19050"/>
            <a:ext cx="2339975" cy="962025"/>
          </a:xfrm>
          <a:prstGeom prst="rect">
            <a:avLst/>
          </a:prstGeom>
          <a:noFill/>
          <a:ln w="9525">
            <a:noFill/>
          </a:ln>
        </p:spPr>
      </p:pic>
      <p:sp>
        <p:nvSpPr>
          <p:cNvPr id="18435" name="Rectangle 3"/>
          <p:cNvSpPr/>
          <p:nvPr/>
        </p:nvSpPr>
        <p:spPr>
          <a:xfrm>
            <a:off x="2305050" y="465138"/>
            <a:ext cx="41576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r>
              <a:rPr lang="en-IN" altLang="en-US" sz="2800" b="1">
                <a:latin typeface="Times New Roman" panose="02020603050405020304" pitchFamily="18" charset="0"/>
                <a:ea typeface="Times New Roman" panose="02020603050405020304" pitchFamily="18" charset="0"/>
              </a:rPr>
              <a:t>…</a:t>
            </a:r>
            <a:r>
              <a:rPr lang="en-IN" altLang="en-US" sz="2800" b="1">
                <a:latin typeface="Times New Roman" panose="02020603050405020304" pitchFamily="18" charset="0"/>
                <a:cs typeface="Times New Roman" panose="02020603050405020304" pitchFamily="18" charset="0"/>
              </a:rPr>
              <a:t>contd</a:t>
            </a:r>
            <a:endParaRPr lang="en-IN" altLang="en-US" sz="2800" b="1">
              <a:latin typeface="Times New Roman" panose="02020603050405020304" pitchFamily="18" charset="0"/>
              <a:ea typeface="Times New Roman" panose="02020603050405020304" pitchFamily="18" charset="0"/>
            </a:endParaRPr>
          </a:p>
        </p:txBody>
      </p:sp>
      <p:sp>
        <p:nvSpPr>
          <p:cNvPr id="18436" name="Rectangle 2"/>
          <p:cNvSpPr/>
          <p:nvPr/>
        </p:nvSpPr>
        <p:spPr>
          <a:xfrm>
            <a:off x="2398713" y="1225550"/>
            <a:ext cx="4100512" cy="40005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eaLnBrk="1" hangingPunct="1">
              <a:spcBef>
                <a:spcPct val="0"/>
              </a:spcBef>
              <a:buFontTx/>
              <a:buNone/>
            </a:pPr>
            <a:r>
              <a:rPr lang="en-US" altLang="en-US" sz="2000" b="1">
                <a:latin typeface="Times New Roman" panose="02020603050405020304" pitchFamily="18" charset="0"/>
                <a:cs typeface="Calibri" panose="020F0502020204030204" pitchFamily="34" charset="0"/>
              </a:rPr>
              <a:t>Table 1: Literature Survey Contd</a:t>
            </a:r>
            <a:r>
              <a:rPr lang="en-US" altLang="en-US" sz="2000" b="1">
                <a:latin typeface="Times New Roman" panose="02020603050405020304" pitchFamily="18" charset="0"/>
                <a:ea typeface="Calibri" panose="020F0502020204030204" pitchFamily="34" charset="0"/>
              </a:rPr>
              <a:t>…</a:t>
            </a:r>
            <a:endParaRPr lang="en-US" altLang="en-US" sz="1100" b="1">
              <a:latin typeface="Times New Roman" panose="02020603050405020304" pitchFamily="18" charset="0"/>
              <a:ea typeface="Calibri" panose="020F0502020204030204" pitchFamily="34" charset="0"/>
            </a:endParaRPr>
          </a:p>
        </p:txBody>
      </p:sp>
      <p:graphicFrame>
        <p:nvGraphicFramePr>
          <p:cNvPr id="4" name="Table 3"/>
          <p:cNvGraphicFramePr>
            <a:graphicFrameLocks noGrp="1"/>
          </p:cNvGraphicFramePr>
          <p:nvPr>
            <p:custDataLst>
              <p:tags r:id="rId1"/>
            </p:custDataLst>
          </p:nvPr>
        </p:nvGraphicFramePr>
        <p:xfrm>
          <a:off x="228600" y="1844675"/>
          <a:ext cx="8686165" cy="4790440"/>
        </p:xfrm>
        <a:graphic>
          <a:graphicData uri="http://schemas.openxmlformats.org/drawingml/2006/table">
            <a:tbl>
              <a:tblPr firstRow="1" firstCol="1" bandRow="1"/>
              <a:tblGrid>
                <a:gridCol w="894715">
                  <a:extLst>
                    <a:ext uri="{9D8B030D-6E8A-4147-A177-3AD203B41FA5}">
                      <a16:colId xmlns:a16="http://schemas.microsoft.com/office/drawing/2014/main" val="20000"/>
                    </a:ext>
                  </a:extLst>
                </a:gridCol>
                <a:gridCol w="1680210">
                  <a:extLst>
                    <a:ext uri="{9D8B030D-6E8A-4147-A177-3AD203B41FA5}">
                      <a16:colId xmlns:a16="http://schemas.microsoft.com/office/drawing/2014/main" val="20001"/>
                    </a:ext>
                  </a:extLst>
                </a:gridCol>
                <a:gridCol w="2874010">
                  <a:extLst>
                    <a:ext uri="{9D8B030D-6E8A-4147-A177-3AD203B41FA5}">
                      <a16:colId xmlns:a16="http://schemas.microsoft.com/office/drawing/2014/main" val="20002"/>
                    </a:ext>
                  </a:extLst>
                </a:gridCol>
                <a:gridCol w="1464310">
                  <a:extLst>
                    <a:ext uri="{9D8B030D-6E8A-4147-A177-3AD203B41FA5}">
                      <a16:colId xmlns:a16="http://schemas.microsoft.com/office/drawing/2014/main" val="20003"/>
                    </a:ext>
                  </a:extLst>
                </a:gridCol>
                <a:gridCol w="1772920">
                  <a:extLst>
                    <a:ext uri="{9D8B030D-6E8A-4147-A177-3AD203B41FA5}">
                      <a16:colId xmlns:a16="http://schemas.microsoft.com/office/drawing/2014/main" val="20004"/>
                    </a:ext>
                  </a:extLst>
                </a:gridCol>
              </a:tblGrid>
              <a:tr h="76708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S. No.</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Paper Details</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Summary</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Techniques/Algorithms</a:t>
                      </a:r>
                      <a:r>
                        <a:rPr lang="en-US" sz="1600" b="1" baseline="0">
                          <a:effectLst/>
                          <a:latin typeface="Times New Roman" panose="02020603050405020304" pitchFamily="18" charset="0"/>
                          <a:ea typeface="Calibri" panose="020F0502020204030204"/>
                          <a:cs typeface="Times New Roman" panose="02020603050405020304" pitchFamily="18" charset="0"/>
                        </a:rPr>
                        <a:t> Used</a:t>
                      </a:r>
                      <a:endParaRPr lang="en-IN" sz="1600" b="1">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Aft>
                          <a:spcPts val="0"/>
                        </a:spcAft>
                      </a:pPr>
                      <a:r>
                        <a:rPr lang="en-IN" sz="1600" b="1">
                          <a:effectLst/>
                          <a:latin typeface="Times New Roman" panose="02020603050405020304" pitchFamily="18" charset="0"/>
                          <a:ea typeface="Calibri" panose="020F0502020204030204"/>
                          <a:cs typeface="Times New Roman" panose="02020603050405020304" pitchFamily="18" charset="0"/>
                        </a:rPr>
                        <a:t>Research Gap</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23360">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8.</a:t>
                      </a: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b="1">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b="1">
                          <a:effectLst/>
                          <a:latin typeface="Times New Roman" panose="02020603050405020304" pitchFamily="18" charset="0"/>
                          <a:ea typeface="Calibri" panose="020F0502020204030204"/>
                          <a:cs typeface="Times New Roman" panose="02020603050405020304" pitchFamily="18" charset="0"/>
                        </a:rPr>
                        <a:t>9.</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IN" sz="1400" b="0" i="0" kern="1200">
                          <a:solidFill>
                            <a:schemeClr val="tx1"/>
                          </a:solidFill>
                          <a:effectLst/>
                          <a:latin typeface="Times New Roman" panose="02020603050405020304" pitchFamily="18" charset="0"/>
                          <a:ea typeface="+mn-ea"/>
                          <a:cs typeface="Times New Roman" panose="02020603050405020304" pitchFamily="18" charset="0"/>
                        </a:rPr>
                        <a:t>Default credit card prediction via machine </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learninhg</a:t>
                      </a:r>
                      <a:r>
                        <a:rPr lang="en-IN" sz="1400" b="0" i="0" kern="1200">
                          <a:solidFill>
                            <a:schemeClr val="tx1"/>
                          </a:solidFill>
                          <a:effectLst/>
                          <a:latin typeface="Times New Roman" panose="02020603050405020304" pitchFamily="18" charset="0"/>
                          <a:ea typeface="+mn-ea"/>
                          <a:cs typeface="Times New Roman" panose="02020603050405020304" pitchFamily="18" charset="0"/>
                        </a:rPr>
                        <a:t>/</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Sofianita</a:t>
                      </a:r>
                      <a:r>
                        <a:rPr lang="en-IN" sz="1400" b="0" i="0" kern="1200">
                          <a:solidFill>
                            <a:schemeClr val="tx1"/>
                          </a:solidFill>
                          <a:effectLst/>
                          <a:latin typeface="Times New Roman" panose="02020603050405020304" pitchFamily="18" charset="0"/>
                          <a:ea typeface="+mn-ea"/>
                          <a:cs typeface="Times New Roman" panose="02020603050405020304" pitchFamily="18" charset="0"/>
                        </a:rPr>
                        <a:t> </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Multlib</a:t>
                      </a:r>
                      <a:r>
                        <a:rPr lang="en-IN" sz="1400" b="0" i="0" kern="1200">
                          <a:solidFill>
                            <a:schemeClr val="tx1"/>
                          </a:solidFill>
                          <a:effectLst/>
                          <a:latin typeface="Times New Roman" panose="02020603050405020304" pitchFamily="18" charset="0"/>
                          <a:ea typeface="+mn-ea"/>
                          <a:cs typeface="Times New Roman" panose="02020603050405020304" pitchFamily="18" charset="0"/>
                        </a:rPr>
                        <a:t> </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Shuzlina</a:t>
                      </a:r>
                      <a:r>
                        <a:rPr lang="en-IN" sz="1400" b="0" i="0" kern="1200">
                          <a:solidFill>
                            <a:schemeClr val="tx1"/>
                          </a:solidFill>
                          <a:effectLst/>
                          <a:latin typeface="Times New Roman" panose="02020603050405020304" pitchFamily="18" charset="0"/>
                          <a:ea typeface="+mn-ea"/>
                          <a:cs typeface="Times New Roman" panose="02020603050405020304" pitchFamily="18" charset="0"/>
                        </a:rPr>
                        <a:t> Abdul Rahman 2023</a:t>
                      </a:r>
                    </a:p>
                    <a:p>
                      <a:pPr algn="l">
                        <a:lnSpc>
                          <a:spcPct val="150000"/>
                        </a:lnSpc>
                        <a:spcAft>
                          <a:spcPts val="0"/>
                        </a:spcAft>
                      </a:pPr>
                      <a:endParaRPr lang="en-IN" sz="1400" b="0" i="0" kern="1200">
                        <a:solidFill>
                          <a:schemeClr val="tx1"/>
                        </a:solidFill>
                        <a:effectLst/>
                        <a:latin typeface="Times New Roman" panose="02020603050405020304" pitchFamily="18" charset="0"/>
                        <a:ea typeface="+mn-ea"/>
                        <a:cs typeface="Times New Roman" panose="02020603050405020304" pitchFamily="18" charset="0"/>
                      </a:endParaRPr>
                    </a:p>
                    <a:p>
                      <a:pPr algn="l">
                        <a:lnSpc>
                          <a:spcPct val="150000"/>
                        </a:lnSpc>
                        <a:spcAft>
                          <a:spcPts val="0"/>
                        </a:spcAft>
                      </a:pPr>
                      <a:r>
                        <a:rPr lang="en-IN" sz="1400" b="0" i="0" kern="1200">
                          <a:solidFill>
                            <a:schemeClr val="tx1"/>
                          </a:solidFill>
                          <a:effectLst/>
                          <a:latin typeface="Times New Roman" panose="02020603050405020304" pitchFamily="18" charset="0"/>
                          <a:ea typeface="+mn-ea"/>
                          <a:cs typeface="Times New Roman" panose="02020603050405020304" pitchFamily="18" charset="0"/>
                        </a:rPr>
                        <a:t>Credit default via interpretable ensemble </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tranfer</a:t>
                      </a:r>
                      <a:r>
                        <a:rPr lang="en-IN" sz="1400" b="0" i="0" kern="1200">
                          <a:solidFill>
                            <a:schemeClr val="tx1"/>
                          </a:solidFill>
                          <a:effectLst/>
                          <a:latin typeface="Times New Roman" panose="02020603050405020304" pitchFamily="18" charset="0"/>
                          <a:ea typeface="+mn-ea"/>
                          <a:cs typeface="Times New Roman" panose="02020603050405020304" pitchFamily="18" charset="0"/>
                        </a:rPr>
                        <a:t>/</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p.oladejo</a:t>
                      </a:r>
                      <a:r>
                        <a:rPr lang="en-IN" sz="1400" b="0" i="0" kern="1200">
                          <a:solidFill>
                            <a:schemeClr val="tx1"/>
                          </a:solidFill>
                          <a:effectLst/>
                          <a:latin typeface="Times New Roman" panose="02020603050405020304" pitchFamily="18" charset="0"/>
                          <a:ea typeface="+mn-ea"/>
                          <a:cs typeface="Times New Roman" panose="02020603050405020304" pitchFamily="18" charset="0"/>
                        </a:rPr>
                        <a:t> </a:t>
                      </a:r>
                      <a:r>
                        <a:rPr lang="en-IN" sz="1400" b="0" i="0" kern="1200" err="1">
                          <a:solidFill>
                            <a:schemeClr val="tx1"/>
                          </a:solidFill>
                          <a:effectLst/>
                          <a:latin typeface="Times New Roman" panose="02020603050405020304" pitchFamily="18" charset="0"/>
                          <a:ea typeface="+mn-ea"/>
                          <a:cs typeface="Times New Roman" panose="02020603050405020304" pitchFamily="18" charset="0"/>
                        </a:rPr>
                        <a:t>juhe</a:t>
                      </a:r>
                      <a:r>
                        <a:rPr lang="en-IN" sz="1400" b="0" i="0" kern="1200">
                          <a:solidFill>
                            <a:schemeClr val="tx1"/>
                          </a:solidFill>
                          <a:effectLst/>
                          <a:latin typeface="Times New Roman" panose="02020603050405020304" pitchFamily="18" charset="0"/>
                          <a:ea typeface="+mn-ea"/>
                          <a:cs typeface="Times New Roman" panose="02020603050405020304" pitchFamily="18" charset="0"/>
                        </a:rPr>
                        <a:t> 2024</a:t>
                      </a:r>
                      <a:endParaRPr lang="en-IN" sz="14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latin typeface="Times New Roman" panose="02020603050405020304" pitchFamily="18" charset="0"/>
                          <a:cs typeface="Times New Roman" panose="02020603050405020304" pitchFamily="18" charset="0"/>
                        </a:rPr>
                        <a:t>various machine learning techniques were used for predicting credit card defaults.</a:t>
                      </a: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400">
                          <a:effectLst/>
                          <a:latin typeface="Times New Roman" panose="02020603050405020304" pitchFamily="18" charset="0"/>
                          <a:ea typeface="Calibri" panose="020F0502020204030204"/>
                          <a:cs typeface="Times New Roman" panose="02020603050405020304" pitchFamily="18" charset="0"/>
                        </a:rPr>
                        <a:t>Transfer Learning helps models generalize across different datasets, while </a:t>
                      </a:r>
                      <a:r>
                        <a:rPr lang="en-US" sz="1400" err="1">
                          <a:effectLst/>
                          <a:latin typeface="Times New Roman" panose="02020603050405020304" pitchFamily="18" charset="0"/>
                          <a:ea typeface="Calibri" panose="020F0502020204030204"/>
                          <a:cs typeface="Times New Roman" panose="02020603050405020304" pitchFamily="18" charset="0"/>
                        </a:rPr>
                        <a:t>LightGBM</a:t>
                      </a:r>
                      <a:r>
                        <a:rPr lang="en-US" sz="1400">
                          <a:effectLst/>
                          <a:latin typeface="Times New Roman" panose="02020603050405020304" pitchFamily="18" charset="0"/>
                          <a:ea typeface="Calibri" panose="020F0502020204030204"/>
                          <a:cs typeface="Times New Roman" panose="02020603050405020304" pitchFamily="18" charset="0"/>
                        </a:rPr>
                        <a:t> ensures efficient, scalable predictions.</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Random Forest , XGBoost, Deep </a:t>
                      </a:r>
                      <a:r>
                        <a:rPr lang="en-US" sz="1600" err="1">
                          <a:effectLst/>
                          <a:latin typeface="Times New Roman" panose="02020603050405020304" pitchFamily="18" charset="0"/>
                          <a:ea typeface="Calibri" panose="020F0502020204030204"/>
                          <a:cs typeface="Times New Roman" panose="02020603050405020304" pitchFamily="18" charset="0"/>
                        </a:rPr>
                        <a:t>Neura</a:t>
                      </a:r>
                      <a:r>
                        <a:rPr lang="en-US" sz="1600">
                          <a:effectLst/>
                          <a:latin typeface="Times New Roman" panose="02020603050405020304" pitchFamily="18" charset="0"/>
                          <a:ea typeface="Calibri" panose="020F0502020204030204"/>
                          <a:cs typeface="Times New Roman" panose="02020603050405020304" pitchFamily="18" charset="0"/>
                        </a:rPr>
                        <a:t> Networks</a:t>
                      </a: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RF, DNN</a:t>
                      </a:r>
                      <a:endParaRPr lang="en-IN" sz="1600">
                        <a:effectLst/>
                        <a:latin typeface="Times New Roman" panose="02020603050405020304" pitchFamily="18" charset="0"/>
                        <a:ea typeface="Calibri" panose="020F0502020204030204"/>
                        <a:cs typeface="Times New Roman" panose="02020603050405020304" pitchFamily="18" charset="0"/>
                      </a:endParaRP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Better model interpretability</a:t>
                      </a: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endParaRPr lang="en-US" sz="1600">
                        <a:effectLst/>
                        <a:latin typeface="Times New Roman" panose="02020603050405020304" pitchFamily="18" charset="0"/>
                        <a:ea typeface="Calibri" panose="020F0502020204030204"/>
                        <a:cs typeface="Times New Roman" panose="02020603050405020304" pitchFamily="18" charset="0"/>
                      </a:endParaRPr>
                    </a:p>
                    <a:p>
                      <a:pPr algn="l">
                        <a:lnSpc>
                          <a:spcPct val="150000"/>
                        </a:lnSpc>
                        <a:spcAft>
                          <a:spcPts val="0"/>
                        </a:spcAft>
                      </a:pPr>
                      <a:r>
                        <a:rPr lang="en-US" sz="1600">
                          <a:effectLst/>
                          <a:latin typeface="Times New Roman" panose="02020603050405020304" pitchFamily="18" charset="0"/>
                          <a:ea typeface="Calibri" panose="020F0502020204030204"/>
                          <a:cs typeface="Times New Roman" panose="02020603050405020304" pitchFamily="18" charset="0"/>
                        </a:rPr>
                        <a:t>Enhancement of cross-domain adaptability and refinement of interpretability</a:t>
                      </a:r>
                    </a:p>
                  </a:txBody>
                  <a:tcPr marL="68584" marR="6858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484"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15</a:t>
            </a:fld>
            <a:endParaRPr lang="en-US" altLang="en-US" sz="1200">
              <a:solidFill>
                <a:srgbClr val="898989"/>
              </a:solidFill>
              <a:ea typeface="Arial" panose="020B0604020202020204" pitchFamily="34" charset="0"/>
              <a:cs typeface="Arial" panose="020B0604020202020204" pitchFamily="34" charset="0"/>
            </a:endParaRPr>
          </a:p>
        </p:txBody>
      </p:sp>
      <p:pic>
        <p:nvPicPr>
          <p:cNvPr id="20485"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vert="horz" wrap="square" lIns="91440" tIns="45720" rIns="91440" bIns="45720" anchor="ctr" anchorCtr="0"/>
          <a:lstStyle/>
          <a:p>
            <a:r>
              <a:rPr lang="en-IN" altLang="en-US" sz="2800" b="1">
                <a:latin typeface="Times New Roman" panose="02020603050405020304" pitchFamily="18" charset="0"/>
                <a:cs typeface="Times New Roman" panose="02020603050405020304" pitchFamily="18" charset="0"/>
              </a:rPr>
              <a:t>Problem Statement</a:t>
            </a:r>
            <a:endParaRPr lang="en-IN" altLang="en-US" sz="2800" b="1">
              <a:latin typeface="Times New Roman" panose="02020603050405020304" pitchFamily="18" charset="0"/>
              <a:ea typeface="Times New Roman" panose="02020603050405020304" pitchFamily="18" charset="0"/>
            </a:endParaRPr>
          </a:p>
        </p:txBody>
      </p:sp>
      <p:sp>
        <p:nvSpPr>
          <p:cNvPr id="21507" name="Content Placeholder 2"/>
          <p:cNvSpPr>
            <a:spLocks noGrp="1"/>
          </p:cNvSpPr>
          <p:nvPr>
            <p:ph idx="1"/>
          </p:nvPr>
        </p:nvSpPr>
        <p:spPr/>
        <p:txBody>
          <a:bodyPr vert="horz" wrap="square" lIns="91440" tIns="45720" rIns="91440" bIns="45720" anchor="t" anchorCtr="0"/>
          <a:lstStyle/>
          <a:p>
            <a:pPr algn="just"/>
            <a:r>
              <a:rPr lang="en-US" sz="2000">
                <a:latin typeface="Times New Roman" panose="02020603050405020304" pitchFamily="18" charset="0"/>
                <a:cs typeface="Times New Roman" panose="02020603050405020304" pitchFamily="18" charset="0"/>
                <a:sym typeface="+mn-ea"/>
              </a:rPr>
              <a:t>As online transactions continue to grow in prevalence and complexity, the incidence of payment fraud has become a significant concern for businesses and consumers alike. Traditional fraud detection methods often struggle to keep pace with the evolving tactics employed by fraudsters, leading to increased financial losses and a decline in consumer trust.</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sym typeface="+mn-ea"/>
              </a:rPr>
              <a:t>This project aims to address the urgent need for more robust and effective online payment fraud detection systems. By leveraging advanced machine learning techniques, specifically XGBoost and Deep Neural Networks (DNN), combined with the Whale Optimization Algorithm (WOA) for feature selection and parameter tuning, this project seeks to enhance the accuracy and efficiency of fraud detection in real-time transactions.</a:t>
            </a:r>
            <a:endParaRPr lang="en-US" sz="2000">
              <a:latin typeface="Times New Roman" panose="02020603050405020304" pitchFamily="18" charset="0"/>
              <a:cs typeface="Times New Roman" panose="02020603050405020304" pitchFamily="18" charset="0"/>
            </a:endParaRPr>
          </a:p>
          <a:p>
            <a:pPr marL="0" indent="0" algn="just">
              <a:buNone/>
            </a:pPr>
            <a:endParaRPr lang="en-IN" sz="2000"/>
          </a:p>
          <a:p>
            <a:pPr marL="0" indent="0" algn="just">
              <a:buNone/>
            </a:pPr>
            <a:endParaRPr lang="en-IN" altLang="en-US" sz="2000"/>
          </a:p>
        </p:txBody>
      </p:sp>
      <p:sp>
        <p:nvSpPr>
          <p:cNvPr id="21508"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16</a:t>
            </a:fld>
            <a:endParaRPr lang="en-IN" altLang="en-US" sz="1200">
              <a:solidFill>
                <a:srgbClr val="898989"/>
              </a:solidFill>
              <a:ea typeface="Arial" panose="020B0604020202020204" pitchFamily="34" charset="0"/>
              <a:cs typeface="Arial" panose="020B0604020202020204" pitchFamily="34" charset="0"/>
            </a:endParaRPr>
          </a:p>
        </p:txBody>
      </p:sp>
      <p:pic>
        <p:nvPicPr>
          <p:cNvPr id="2150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2532"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17</a:t>
            </a:fld>
            <a:endParaRPr lang="en-US" altLang="en-US" sz="1200">
              <a:solidFill>
                <a:srgbClr val="898989"/>
              </a:solidFill>
              <a:ea typeface="Arial" panose="020B0604020202020204" pitchFamily="34" charset="0"/>
              <a:cs typeface="Arial" panose="020B0604020202020204" pitchFamily="34" charset="0"/>
            </a:endParaRPr>
          </a:p>
        </p:txBody>
      </p:sp>
      <p:pic>
        <p:nvPicPr>
          <p:cNvPr id="22533"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vert="horz" wrap="square" lIns="91440" tIns="45720" rIns="91440" bIns="45720" anchor="ctr" anchorCtr="0"/>
          <a:lstStyle/>
          <a:p>
            <a:r>
              <a:rPr lang="en-IN" altLang="en-US" sz="2800" b="1">
                <a:latin typeface="Times New Roman" panose="02020603050405020304" pitchFamily="18" charset="0"/>
                <a:cs typeface="Times New Roman" panose="02020603050405020304" pitchFamily="18" charset="0"/>
              </a:rPr>
              <a:t>Objectives</a:t>
            </a:r>
            <a:endParaRPr lang="en-IN" altLang="en-US" sz="2800" b="1">
              <a:latin typeface="Times New Roman" panose="02020603050405020304" pitchFamily="18" charset="0"/>
              <a:ea typeface="Times New Roman" panose="02020603050405020304" pitchFamily="18" charset="0"/>
            </a:endParaRPr>
          </a:p>
        </p:txBody>
      </p:sp>
      <p:sp>
        <p:nvSpPr>
          <p:cNvPr id="23555" name="Content Placeholder 2"/>
          <p:cNvSpPr>
            <a:spLocks noGrp="1"/>
          </p:cNvSpPr>
          <p:nvPr>
            <p:ph idx="1"/>
          </p:nvPr>
        </p:nvSpPr>
        <p:spPr/>
        <p:txBody>
          <a:bodyPr vert="horz" wrap="square" lIns="91440" tIns="45720" rIns="91440" bIns="45720" numCol="1" anchor="t" anchorCtr="0" compatLnSpc="1"/>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To  Collect the dataset and preprocess the data. </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Train the model XG Boost, DNN, along with WOA.</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Evaluate the performance of the developed model (Confusion Matrix, Precision, Recall, F1-score, Accuracy, Error.</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cs typeface="Times New Roman" panose="02020603050405020304" pitchFamily="18" charset="0"/>
                <a:sym typeface="+mn-ea"/>
              </a:rPr>
              <a:t>Compare the model Accuracy with Efficiency Sample result.</a:t>
            </a:r>
            <a:endParaRPr lang="en-US" sz="2000">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en-US" sz="2000" b="1" i="1" u="sng"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3556"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18</a:t>
            </a:fld>
            <a:endParaRPr lang="en-IN" altLang="en-US" sz="1200">
              <a:solidFill>
                <a:srgbClr val="898989"/>
              </a:solidFill>
              <a:ea typeface="Arial" panose="020B0604020202020204" pitchFamily="34" charset="0"/>
              <a:cs typeface="Arial" panose="020B0604020202020204" pitchFamily="34" charset="0"/>
            </a:endParaRPr>
          </a:p>
        </p:txBody>
      </p:sp>
      <p:pic>
        <p:nvPicPr>
          <p:cNvPr id="23557"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4580"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19</a:t>
            </a:fld>
            <a:endParaRPr lang="en-US" altLang="en-US" sz="1200">
              <a:solidFill>
                <a:srgbClr val="898989"/>
              </a:solidFill>
              <a:ea typeface="Arial" panose="020B0604020202020204" pitchFamily="34" charset="0"/>
              <a:cs typeface="Arial" panose="020B0604020202020204" pitchFamily="34" charset="0"/>
            </a:endParaRPr>
          </a:p>
        </p:txBody>
      </p:sp>
      <p:pic>
        <p:nvPicPr>
          <p:cNvPr id="24581"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vert="horz" wrap="square" lIns="91440" tIns="45720" rIns="91440" bIns="45720" anchor="ctr" anchorCtr="0"/>
          <a:lstStyle/>
          <a:p>
            <a:r>
              <a:rPr lang="en-IN" altLang="en-US" sz="2800" b="1">
                <a:latin typeface="Times New Roman" panose="02020603050405020304" pitchFamily="18" charset="0"/>
                <a:cs typeface="Times New Roman" panose="02020603050405020304" pitchFamily="18" charset="0"/>
              </a:rPr>
              <a:t>Requirement Analysis</a:t>
            </a:r>
            <a:endParaRPr lang="en-IN" altLang="en-US" sz="2800" b="1">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p:txBody>
          <a:bodyPr vert="horz" wrap="square" lIns="91440" tIns="45720" rIns="91440" bIns="45720" numCol="1" anchor="t" anchorCtr="0" compatLnSpc="1"/>
          <a:lstStyle/>
          <a:p>
            <a:pPr algn="just"/>
            <a:r>
              <a:rPr lang="en-IN" sz="2000" b="1">
                <a:sym typeface="+mn-ea"/>
              </a:rPr>
              <a:t>1. </a:t>
            </a:r>
            <a:r>
              <a:rPr lang="en-IN" sz="2000" b="1">
                <a:latin typeface="Times New Roman" panose="02020603050405020304" pitchFamily="18" charset="0"/>
                <a:cs typeface="Times New Roman" panose="02020603050405020304" pitchFamily="18" charset="0"/>
                <a:sym typeface="+mn-ea"/>
              </a:rPr>
              <a:t>Hardware Requirements</a:t>
            </a:r>
            <a:endParaRPr lang="en-IN" sz="2000" b="1">
              <a:latin typeface="Times New Roman" panose="02020603050405020304" pitchFamily="18" charset="0"/>
              <a:cs typeface="Times New Roman" panose="02020603050405020304" pitchFamily="18" charset="0"/>
            </a:endParaRPr>
          </a:p>
          <a:p>
            <a:pPr algn="just"/>
            <a:r>
              <a:rPr lang="en-IN" sz="2000">
                <a:latin typeface="Times New Roman" panose="02020603050405020304" pitchFamily="18" charset="0"/>
                <a:cs typeface="Times New Roman" panose="02020603050405020304" pitchFamily="18" charset="0"/>
                <a:sym typeface="+mn-ea"/>
              </a:rPr>
              <a:t>To run machine learning models like XGBoost and Deep Neural Networks (DNN), especially when optimizing with algorithms like Whale Optimization Algorithm (WOA), you need powerful hardware for efficient computation. Here's the breakdown:</a:t>
            </a:r>
            <a:endParaRPr lang="en-IN" sz="20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a:latin typeface="Times New Roman" panose="02020603050405020304" pitchFamily="18" charset="0"/>
                <a:cs typeface="Times New Roman" panose="02020603050405020304" pitchFamily="18" charset="0"/>
                <a:sym typeface="+mn-ea"/>
              </a:rPr>
              <a:t>Processor (CPU):</a:t>
            </a:r>
            <a:endParaRPr lang="en-IN"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sym typeface="+mn-ea"/>
              </a:rPr>
              <a:t>Minimum: Intel i5 (8th Gen or higher) / AMD Ryzen 5</a:t>
            </a:r>
            <a:endParaRPr lang="en-IN"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sym typeface="+mn-ea"/>
              </a:rPr>
              <a:t>Recommended: Intel i7/i9 (10th Gen or higher) / AMD Ryzen 7/9 or above</a:t>
            </a:r>
            <a:endParaRPr lang="en-IN"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sym typeface="+mn-ea"/>
              </a:rPr>
              <a:t>Rationale: Multi-core processors ensure faster data processing and model training.</a:t>
            </a:r>
            <a:endParaRPr lang="en-IN" sz="20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a:latin typeface="Times New Roman" panose="02020603050405020304" pitchFamily="18" charset="0"/>
                <a:cs typeface="Times New Roman" panose="02020603050405020304" pitchFamily="18" charset="0"/>
                <a:sym typeface="+mn-ea"/>
              </a:rPr>
              <a:t>Graphics Processing Unit (GPU):</a:t>
            </a:r>
            <a:endParaRPr lang="en-IN"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sym typeface="+mn-ea"/>
              </a:rPr>
              <a:t>Minimum: NVIDIA GTX 1050 or equivalent</a:t>
            </a:r>
            <a:endParaRPr lang="en-IN" sz="200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sz="2000">
                <a:latin typeface="Times New Roman" panose="02020603050405020304" pitchFamily="18" charset="0"/>
                <a:cs typeface="Times New Roman" panose="02020603050405020304" pitchFamily="18" charset="0"/>
                <a:sym typeface="+mn-ea"/>
              </a:rPr>
              <a:t>Recommended: NVIDIA RTX 3060/3080 or equivalent</a:t>
            </a:r>
            <a:endParaRPr lang="en-IN" sz="2000">
              <a:latin typeface="Times New Roman" panose="02020603050405020304" pitchFamily="18" charset="0"/>
              <a:cs typeface="Times New Roman" panose="02020603050405020304" pitchFamily="18" charset="0"/>
            </a:endParaRPr>
          </a:p>
          <a:p>
            <a:pPr algn="just"/>
            <a:endParaRPr lang="en-IN" sz="200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5604"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20</a:t>
            </a:fld>
            <a:endParaRPr lang="en-IN" altLang="en-US" sz="1200">
              <a:solidFill>
                <a:srgbClr val="898989"/>
              </a:solidFill>
              <a:ea typeface="Arial" panose="020B0604020202020204" pitchFamily="34" charset="0"/>
              <a:cs typeface="Arial" panose="020B0604020202020204" pitchFamily="34" charset="0"/>
            </a:endParaRPr>
          </a:p>
        </p:txBody>
      </p:sp>
      <p:pic>
        <p:nvPicPr>
          <p:cNvPr id="25605"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sym typeface="+mn-ea"/>
              </a:rPr>
              <a:t>Requirement Analysis</a:t>
            </a:r>
            <a:endParaRPr lang="en-US" sz="2800"/>
          </a:p>
        </p:txBody>
      </p:sp>
      <p:pic>
        <p:nvPicPr>
          <p:cNvPr id="4" name="Content Placeholder 3"/>
          <p:cNvPicPr>
            <a:picLocks noGrp="1" noChangeAspect="1"/>
          </p:cNvPicPr>
          <p:nvPr>
            <p:ph idx="1"/>
          </p:nvPr>
        </p:nvPicPr>
        <p:blipFill>
          <a:blip r:embed="rId2"/>
          <a:stretch>
            <a:fillRect/>
          </a:stretch>
        </p:blipFill>
        <p:spPr>
          <a:xfrm>
            <a:off x="6477000" y="0"/>
            <a:ext cx="2667000" cy="1097280"/>
          </a:xfrm>
          <a:prstGeom prst="rect">
            <a:avLst/>
          </a:prstGeom>
        </p:spPr>
      </p:pic>
      <p:sp>
        <p:nvSpPr>
          <p:cNvPr id="5" name="Text Box 4"/>
          <p:cNvSpPr txBox="1"/>
          <p:nvPr/>
        </p:nvSpPr>
        <p:spPr>
          <a:xfrm>
            <a:off x="419100" y="1600200"/>
            <a:ext cx="8392795" cy="452310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Memory (RAM):</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Minimum: 8 GB</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Recommended: 16 GB or more</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Rationale: More RAM allows handling larger datasets in memory, which is crucial for fraud detection systems with large transactional datasets.</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Storage:</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Minimum: 256 GB SSD</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Recommended: 512 GB SSD or more</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Rationale: Faster read/write speeds during data processing and model execution.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Other Peripherals:</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Monitor with full HD resolution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Stable Internet connection (for cloud services or data retrieval)</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a:ln>
                <a:noFill/>
              </a:ln>
              <a:solidFill>
                <a:schemeClr val="tx1"/>
              </a:solidFill>
              <a:effectLst/>
              <a:latin typeface="Arial" panose="020B0604020202020204" pitchFamily="34" charset="0"/>
            </a:endParaRPr>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sym typeface="+mn-ea"/>
              </a:rPr>
              <a:t>Requirement Analysis</a:t>
            </a:r>
            <a:endParaRPr lang="en-US" sz="2800"/>
          </a:p>
        </p:txBody>
      </p:sp>
      <p:pic>
        <p:nvPicPr>
          <p:cNvPr id="4" name="Content Placeholder 3"/>
          <p:cNvPicPr>
            <a:picLocks noGrp="1" noChangeAspect="1"/>
          </p:cNvPicPr>
          <p:nvPr>
            <p:ph idx="1"/>
          </p:nvPr>
        </p:nvPicPr>
        <p:blipFill>
          <a:blip r:embed="rId2"/>
          <a:stretch>
            <a:fillRect/>
          </a:stretch>
        </p:blipFill>
        <p:spPr>
          <a:xfrm>
            <a:off x="6443980" y="0"/>
            <a:ext cx="2667000" cy="1097280"/>
          </a:xfrm>
          <a:prstGeom prst="rect">
            <a:avLst/>
          </a:prstGeom>
        </p:spPr>
      </p:pic>
      <p:sp>
        <p:nvSpPr>
          <p:cNvPr id="5" name="Text Box 4"/>
          <p:cNvSpPr txBox="1"/>
          <p:nvPr/>
        </p:nvSpPr>
        <p:spPr>
          <a:xfrm>
            <a:off x="638810" y="1557655"/>
            <a:ext cx="8244840" cy="3692525"/>
          </a:xfrm>
          <a:prstGeom prst="rect">
            <a:avLst/>
          </a:prstGeom>
          <a:noFill/>
        </p:spPr>
        <p:txBody>
          <a:bodyPr wrap="square" rtlCol="0">
            <a:spAutoFit/>
          </a:bodyPr>
          <a:lstStyle/>
          <a:p>
            <a:pPr algn="just"/>
            <a:r>
              <a:rPr lang="en-IN" b="1">
                <a:latin typeface="Times New Roman" panose="02020603050405020304" pitchFamily="18" charset="0"/>
                <a:cs typeface="Times New Roman" panose="02020603050405020304" pitchFamily="18" charset="0"/>
                <a:sym typeface="+mn-ea"/>
              </a:rPr>
              <a:t>2. Software Requirements</a:t>
            </a:r>
            <a:endParaRPr lang="en-IN" b="1">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sym typeface="+mn-ea"/>
              </a:rPr>
              <a:t>Operating System:</a:t>
            </a:r>
            <a:endParaRPr lang="en-IN">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sym typeface="+mn-ea"/>
              </a:rPr>
              <a:t>Windows 10 or 11 / Linux Ubuntu 20.04 or later / macOS (if applicable)</a:t>
            </a:r>
            <a:endParaRPr lang="en-IN">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sym typeface="+mn-ea"/>
              </a:rPr>
              <a:t>Development Environment:</a:t>
            </a:r>
            <a:endParaRPr lang="en-IN">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sym typeface="+mn-ea"/>
              </a:rPr>
              <a:t>IDE/Code Editor:</a:t>
            </a:r>
            <a:endParaRPr lang="en-IN">
              <a:latin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pPr>
            <a:r>
              <a:rPr lang="en-IN">
                <a:latin typeface="Times New Roman" panose="02020603050405020304" pitchFamily="18" charset="0"/>
                <a:cs typeface="Times New Roman" panose="02020603050405020304" pitchFamily="18" charset="0"/>
                <a:sym typeface="+mn-ea"/>
              </a:rPr>
              <a:t>Jupyter Notebook, Google </a:t>
            </a:r>
            <a:r>
              <a:rPr lang="en-IN" err="1">
                <a:latin typeface="Times New Roman" panose="02020603050405020304" pitchFamily="18" charset="0"/>
                <a:cs typeface="Times New Roman" panose="02020603050405020304" pitchFamily="18" charset="0"/>
                <a:sym typeface="+mn-ea"/>
              </a:rPr>
              <a:t>Colab</a:t>
            </a:r>
            <a:endParaRPr lang="en-IN">
              <a:latin typeface="Times New Roman" panose="02020603050405020304" pitchFamily="18" charset="0"/>
              <a:cs typeface="Times New Roman" panose="02020603050405020304" pitchFamily="18" charset="0"/>
            </a:endParaRPr>
          </a:p>
          <a:p>
            <a:pPr marL="914400" lvl="2" indent="0" algn="just">
              <a:buNone/>
            </a:pPr>
            <a:r>
              <a:rPr lang="en-IN">
                <a:latin typeface="Times New Roman" panose="02020603050405020304" pitchFamily="18" charset="0"/>
                <a:cs typeface="Times New Roman" panose="02020603050405020304" pitchFamily="18" charset="0"/>
                <a:sym typeface="+mn-ea"/>
              </a:rPr>
              <a:t>.</a:t>
            </a:r>
            <a:endParaRPr lang="en-IN">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sym typeface="+mn-ea"/>
              </a:rPr>
              <a:t>Programming Languages:</a:t>
            </a:r>
            <a:endParaRPr lang="en-IN">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sym typeface="+mn-ea"/>
              </a:rPr>
              <a:t>Python 3.7 or higher</a:t>
            </a:r>
            <a:endParaRPr lang="en-IN">
              <a:latin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pPr>
            <a:r>
              <a:rPr lang="en-IN">
                <a:latin typeface="Times New Roman" panose="02020603050405020304" pitchFamily="18" charset="0"/>
                <a:cs typeface="Times New Roman" panose="02020603050405020304" pitchFamily="18" charset="0"/>
                <a:sym typeface="+mn-ea"/>
              </a:rPr>
              <a:t>Primary language for machine learning libraries, easy integration with optimization algorithms, and data preprocessing.</a:t>
            </a:r>
            <a:endParaRPr lang="en-IN">
              <a:latin typeface="Times New Roman" panose="02020603050405020304" pitchFamily="18" charset="0"/>
              <a:cs typeface="Times New Roman" panose="02020603050405020304" pitchFamily="18" charset="0"/>
            </a:endParaRPr>
          </a:p>
          <a:p>
            <a:endParaRPr lang="en-IN"/>
          </a:p>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215" y="332423"/>
            <a:ext cx="8229600" cy="1143000"/>
          </a:xfrm>
        </p:spPr>
        <p:txBody>
          <a:bodyPr/>
          <a:lstStyle/>
          <a:p>
            <a:r>
              <a:rPr lang="en-IN" altLang="en-US" sz="2800" b="1">
                <a:latin typeface="Times New Roman" panose="02020603050405020304" pitchFamily="18" charset="0"/>
                <a:cs typeface="Times New Roman" panose="02020603050405020304" pitchFamily="18" charset="0"/>
                <a:sym typeface="+mn-ea"/>
              </a:rPr>
              <a:t>Requirement Analysis</a:t>
            </a:r>
            <a:endParaRPr lang="en-US" sz="2800"/>
          </a:p>
        </p:txBody>
      </p:sp>
      <p:pic>
        <p:nvPicPr>
          <p:cNvPr id="5" name="Content Placeholder 4"/>
          <p:cNvPicPr>
            <a:picLocks noGrp="1" noChangeAspect="1"/>
          </p:cNvPicPr>
          <p:nvPr>
            <p:ph idx="1"/>
          </p:nvPr>
        </p:nvPicPr>
        <p:blipFill>
          <a:blip r:embed="rId2"/>
          <a:stretch>
            <a:fillRect/>
          </a:stretch>
        </p:blipFill>
        <p:spPr>
          <a:xfrm>
            <a:off x="6477000" y="0"/>
            <a:ext cx="2667000" cy="1097280"/>
          </a:xfrm>
          <a:prstGeom prst="rect">
            <a:avLst/>
          </a:prstGeom>
        </p:spPr>
      </p:pic>
      <p:sp>
        <p:nvSpPr>
          <p:cNvPr id="4" name="Text Box 3"/>
          <p:cNvSpPr txBox="1"/>
          <p:nvPr/>
        </p:nvSpPr>
        <p:spPr>
          <a:xfrm>
            <a:off x="2286000" y="3168015"/>
            <a:ext cx="4572000" cy="521970"/>
          </a:xfrm>
          <a:prstGeom prst="rect">
            <a:avLst/>
          </a:prstGeom>
          <a:noFill/>
        </p:spPr>
        <p:txBody>
          <a:bodyPr wrap="square" rtlCol="0" anchor="t">
            <a:spAutoFit/>
          </a:bodyPr>
          <a:lstStyle/>
          <a:p>
            <a:endParaRPr lang="en-IN" altLang="en-US" sz="2800" b="1">
              <a:latin typeface="Times New Roman" panose="02020603050405020304" pitchFamily="18" charset="0"/>
              <a:cs typeface="Times New Roman" panose="02020603050405020304" pitchFamily="18" charset="0"/>
              <a:sym typeface="+mn-ea"/>
            </a:endParaRPr>
          </a:p>
        </p:txBody>
      </p:sp>
      <p:sp>
        <p:nvSpPr>
          <p:cNvPr id="7" name="Text Box 6"/>
          <p:cNvSpPr txBox="1"/>
          <p:nvPr/>
        </p:nvSpPr>
        <p:spPr>
          <a:xfrm>
            <a:off x="251460" y="1412875"/>
            <a:ext cx="8452485" cy="5908040"/>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Libraries/Frameworks:</a:t>
            </a:r>
            <a:endParaRPr kumimoji="0" lang="en-US" altLang="en-US"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XGBoost:</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For building the gradient-boosted decision tree models.. </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pPr>
            <a:endParaRPr lang="en-US" altLang="en-US">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Pandas &amp; NumPy:</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For handling and processing large datasets efficiently.</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Matplotlib &amp; Seaborn: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For data visualization and plotting performance metrics.</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Imbalanced-learn (imbalanced-learn):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To address the class imbalance problem in fraud detection (e.g., SMOTE, ADASYN).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Optimization Algorithms:</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lang="en-US" altLang="en-US" b="1">
                <a:ln>
                  <a:noFill/>
                </a:ln>
                <a:effectLst/>
                <a:latin typeface="Times New Roman" panose="02020603050405020304" pitchFamily="18" charset="0"/>
                <a:cs typeface="Times New Roman" panose="02020603050405020304" pitchFamily="18" charset="0"/>
                <a:sym typeface="+mn-ea"/>
              </a:rPr>
              <a:t>WOA (Whale Optimization Algorithm):</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pPr>
            <a:r>
              <a:rPr lang="en-US" altLang="en-US">
                <a:ln>
                  <a:noFill/>
                </a:ln>
                <a:effectLst/>
                <a:latin typeface="Times New Roman" panose="02020603050405020304" pitchFamily="18" charset="0"/>
                <a:cs typeface="Times New Roman" panose="02020603050405020304" pitchFamily="18" charset="0"/>
                <a:sym typeface="+mn-ea"/>
              </a:rPr>
              <a:t>A custom library or Python implementation for integrating WOA for hyperparameter optimization or feature selection.</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a:ln>
                <a:noFill/>
              </a:ln>
              <a:solidFill>
                <a:schemeClr val="tx1"/>
              </a:solidFill>
              <a:effectLst/>
              <a:latin typeface="Arial" panose="020B0604020202020204" pitchFamily="34" charset="0"/>
            </a:endParaRP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662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24</a:t>
            </a:fld>
            <a:endParaRPr lang="en-US" altLang="en-US" sz="1200">
              <a:solidFill>
                <a:srgbClr val="898989"/>
              </a:solidFill>
              <a:ea typeface="Arial" panose="020B0604020202020204" pitchFamily="34" charset="0"/>
              <a:cs typeface="Arial" panose="020B0604020202020204" pitchFamily="34" charset="0"/>
            </a:endParaRPr>
          </a:p>
        </p:txBody>
      </p:sp>
      <p:pic>
        <p:nvPicPr>
          <p:cNvPr id="2662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01650" y="981075"/>
            <a:ext cx="8229600" cy="906463"/>
          </a:xfrm>
        </p:spPr>
        <p:txBody>
          <a:bodyPr vert="horz" wrap="square" lIns="91440" tIns="45720" rIns="91440" bIns="45720" anchor="ctr" anchorCtr="0"/>
          <a:lstStyle/>
          <a:p>
            <a:pPr marL="457200" indent="-457200" eaLnBrk="1" hangingPunct="1"/>
            <a:r>
              <a:rPr lang="en-US" altLang="en-US" sz="2800" b="1">
                <a:latin typeface="Times New Roman" panose="02020603050405020304" pitchFamily="18" charset="0"/>
                <a:cs typeface="Times New Roman" panose="02020603050405020304" pitchFamily="18" charset="0"/>
              </a:rPr>
              <a:t>Identification of tools/technology/algorithms</a:t>
            </a:r>
            <a:endParaRPr lang="en-US" altLang="en-US" sz="2800" b="1">
              <a:latin typeface="Times New Roman" panose="02020603050405020304" pitchFamily="18" charset="0"/>
              <a:ea typeface="Times New Roman" panose="02020603050405020304" pitchFamily="18" charset="0"/>
            </a:endParaRPr>
          </a:p>
        </p:txBody>
      </p:sp>
      <p:sp>
        <p:nvSpPr>
          <p:cNvPr id="21507" name="Content Placeholder 2"/>
          <p:cNvSpPr>
            <a:spLocks noGrp="1"/>
          </p:cNvSpPr>
          <p:nvPr>
            <p:ph idx="1"/>
          </p:nvPr>
        </p:nvSpPr>
        <p:spPr>
          <a:xfrm>
            <a:off x="501650" y="2162175"/>
            <a:ext cx="8229600" cy="3700463"/>
          </a:xfrm>
        </p:spPr>
        <p:txBody>
          <a:bodyPr vert="horz" wrap="square" lIns="91440" tIns="45720" rIns="91440" bIns="45720" numCol="1" anchor="t" anchorCtr="0" compatLnSpc="1"/>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ea typeface="Kanit Light" pitchFamily="34" charset="-122"/>
                <a:cs typeface="Times New Roman" panose="02020603050405020304" pitchFamily="18" charset="0"/>
                <a:sym typeface="+mn-ea"/>
              </a:rPr>
              <a:t>XGBoost:</a:t>
            </a:r>
            <a:endParaRPr lang="en-US" sz="2000">
              <a:latin typeface="Times New Roman" panose="02020603050405020304" pitchFamily="18" charset="0"/>
              <a:ea typeface="Kanit Light" pitchFamily="34" charset="-122"/>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solidFill>
                  <a:srgbClr val="2C3249"/>
                </a:solidFill>
                <a:latin typeface="Times New Roman" panose="02020603050405020304" pitchFamily="18" charset="0"/>
                <a:ea typeface="Martel Sans" pitchFamily="34" charset="-122"/>
                <a:cs typeface="Times New Roman" panose="02020603050405020304" pitchFamily="18" charset="0"/>
                <a:sym typeface="+mn-ea"/>
              </a:rPr>
              <a:t>A powerful gradient boosting algorithm, known for its accuracy and efficiency in handling large datasets.</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ea typeface="Kanit Light" pitchFamily="34" charset="-122"/>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ea typeface="Kanit Light" pitchFamily="34" charset="-122"/>
                <a:cs typeface="Times New Roman" panose="02020603050405020304" pitchFamily="18" charset="0"/>
                <a:sym typeface="+mn-ea"/>
              </a:rPr>
              <a:t>Deep Neural Networks (DNN)</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solidFill>
                  <a:srgbClr val="2C3249"/>
                </a:solidFill>
                <a:latin typeface="Times New Roman" panose="02020603050405020304" pitchFamily="18" charset="0"/>
                <a:ea typeface="Martel Sans" pitchFamily="34" charset="-122"/>
                <a:cs typeface="Times New Roman" panose="02020603050405020304" pitchFamily="18" charset="0"/>
                <a:sym typeface="+mn-ea"/>
              </a:rPr>
              <a:t>DNNs excel at learning complex patterns from data, enhancing fraud detection capabilities.</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en-US" sz="2000">
                <a:latin typeface="Times New Roman" panose="02020603050405020304" pitchFamily="18" charset="0"/>
                <a:ea typeface="Kanit Light" pitchFamily="34" charset="-122"/>
                <a:cs typeface="Times New Roman" panose="02020603050405020304" pitchFamily="18" charset="0"/>
                <a:sym typeface="+mn-ea"/>
              </a:rPr>
              <a:t>Whale Optimization Algorithm (WOA)</a:t>
            </a:r>
            <a:endParaRPr lang="en-US" sz="2000">
              <a:latin typeface="Times New Roman" panose="02020603050405020304" pitchFamily="18" charset="0"/>
              <a:ea typeface="Kanit Light" pitchFamily="34" charset="-122"/>
              <a:cs typeface="Times New Roman" panose="02020603050405020304" pitchFamily="18" charset="0"/>
            </a:endParaRPr>
          </a:p>
          <a:p>
            <a:pPr algn="just">
              <a:buFont typeface="Arial" panose="020B0604020202020204" pitchFamily="34" charset="0"/>
              <a:buChar char="•"/>
            </a:pPr>
            <a:r>
              <a:rPr lang="en-US" sz="2000">
                <a:solidFill>
                  <a:srgbClr val="2C3249"/>
                </a:solidFill>
                <a:latin typeface="Times New Roman" panose="02020603050405020304" pitchFamily="18" charset="0"/>
                <a:ea typeface="Martel Sans" pitchFamily="34" charset="-122"/>
                <a:cs typeface="Times New Roman" panose="02020603050405020304" pitchFamily="18" charset="0"/>
                <a:sym typeface="+mn-ea"/>
              </a:rPr>
              <a:t>WOA is  metaheuristic optimization algorithm inspired by humpback whales, used to optimize hyperparameters for the DNN.</a:t>
            </a:r>
            <a:endParaRPr lang="en-US" sz="2000">
              <a:latin typeface="Times New Roman" panose="02020603050405020304" pitchFamily="18" charset="0"/>
              <a:cs typeface="Times New Roman" panose="02020603050405020304" pitchFamily="18" charset="0"/>
            </a:endParaRP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endParaRPr kumimoji="0" lang="en-US" altLang="en-US" sz="2000" b="1" i="1" u="sng"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7652"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25</a:t>
            </a:fld>
            <a:endParaRPr lang="en-IN" altLang="en-US" sz="1200">
              <a:solidFill>
                <a:srgbClr val="898989"/>
              </a:solidFill>
              <a:ea typeface="Arial" panose="020B0604020202020204" pitchFamily="34" charset="0"/>
              <a:cs typeface="Arial" panose="020B0604020202020204" pitchFamily="34" charset="0"/>
            </a:endParaRPr>
          </a:p>
        </p:txBody>
      </p:sp>
      <p:pic>
        <p:nvPicPr>
          <p:cNvPr id="27653" name="Picture 2" descr="D:\GITAM-GST-CSE\2024-25\Capstone-Project\GITAM-newlogo.jpeg"/>
          <p:cNvPicPr>
            <a:picLocks noChangeAspect="1"/>
          </p:cNvPicPr>
          <p:nvPr/>
        </p:nvPicPr>
        <p:blipFill>
          <a:blip r:embed="rId2"/>
          <a:stretch>
            <a:fillRect/>
          </a:stretch>
        </p:blipFill>
        <p:spPr>
          <a:xfrm>
            <a:off x="6769100" y="19050"/>
            <a:ext cx="2339975" cy="96202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8676"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26</a:t>
            </a:fld>
            <a:endParaRPr lang="en-US" altLang="en-US" sz="1200">
              <a:solidFill>
                <a:srgbClr val="898989"/>
              </a:solidFill>
              <a:ea typeface="Arial" panose="020B0604020202020204" pitchFamily="34" charset="0"/>
              <a:cs typeface="Arial" panose="020B0604020202020204" pitchFamily="34" charset="0"/>
            </a:endParaRPr>
          </a:p>
        </p:txBody>
      </p:sp>
      <p:pic>
        <p:nvPicPr>
          <p:cNvPr id="28677"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EA39-086D-A5B3-F23C-C71EEAD7CE20}"/>
              </a:ext>
            </a:extLst>
          </p:cNvPr>
          <p:cNvSpPr>
            <a:spLocks noGrp="1"/>
          </p:cNvSpPr>
          <p:nvPr>
            <p:ph type="title"/>
          </p:nvPr>
        </p:nvSpPr>
        <p:spPr/>
        <p:txBody>
          <a:bodyPr lIns="91440" tIns="45720" rIns="91440" bIns="45720" anchor="ctr" anchorCtr="0"/>
          <a:lstStyle/>
          <a:p>
            <a:r>
              <a:rPr lang="en-US" dirty="0">
                <a:ea typeface="Calibri"/>
                <a:cs typeface="Calibri"/>
              </a:rPr>
              <a:t>Final Design Strategy</a:t>
            </a:r>
            <a:endParaRPr lang="en-US" dirty="0"/>
          </a:p>
        </p:txBody>
      </p:sp>
      <p:sp>
        <p:nvSpPr>
          <p:cNvPr id="3" name="Content Placeholder 2">
            <a:extLst>
              <a:ext uri="{FF2B5EF4-FFF2-40B4-BE49-F238E27FC236}">
                <a16:creationId xmlns:a16="http://schemas.microsoft.com/office/drawing/2014/main" id="{3458C7F7-37C3-3240-D726-F9A88F11F970}"/>
              </a:ext>
            </a:extLst>
          </p:cNvPr>
          <p:cNvSpPr>
            <a:spLocks noGrp="1"/>
          </p:cNvSpPr>
          <p:nvPr>
            <p:ph idx="1"/>
          </p:nvPr>
        </p:nvSpPr>
        <p:spPr/>
        <p:txBody>
          <a:bodyPr lIns="91440" tIns="45720" rIns="91440" bIns="45720" anchor="t"/>
          <a:lstStyle/>
          <a:p>
            <a:r>
              <a:rPr lang="en-US" dirty="0">
                <a:ea typeface="Calibri"/>
                <a:cs typeface="Calibri"/>
              </a:rPr>
              <a:t>Work flow diagram</a:t>
            </a:r>
          </a:p>
          <a:p>
            <a:r>
              <a:rPr lang="en-US" dirty="0" err="1">
                <a:ea typeface="Calibri"/>
                <a:cs typeface="Calibri"/>
              </a:rPr>
              <a:t>Usecase</a:t>
            </a:r>
            <a:r>
              <a:rPr lang="en-US" dirty="0">
                <a:ea typeface="Calibri"/>
                <a:cs typeface="Calibri"/>
              </a:rPr>
              <a:t> Diagram</a:t>
            </a:r>
          </a:p>
        </p:txBody>
      </p:sp>
    </p:spTree>
    <p:extLst>
      <p:ext uri="{BB962C8B-B14F-4D97-AF65-F5344CB8AC3E}">
        <p14:creationId xmlns:p14="http://schemas.microsoft.com/office/powerpoint/2010/main" val="1099869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vert="horz" wrap="square" lIns="91440" tIns="45720" rIns="91440" bIns="45720" anchor="ctr" anchorCtr="0"/>
          <a:lstStyle/>
          <a:p>
            <a:r>
              <a:rPr lang="en-US" altLang="en-US" sz="2800" b="1" dirty="0">
                <a:latin typeface="Times New Roman"/>
                <a:cs typeface="Times New Roman"/>
              </a:rPr>
              <a:t>Work flow diagram</a:t>
            </a:r>
          </a:p>
        </p:txBody>
      </p:sp>
      <p:sp>
        <p:nvSpPr>
          <p:cNvPr id="29699"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28</a:t>
            </a:fld>
            <a:endParaRPr lang="en-IN" altLang="en-US" sz="1200">
              <a:solidFill>
                <a:srgbClr val="898989"/>
              </a:solidFill>
              <a:ea typeface="Arial" panose="020B0604020202020204" pitchFamily="34" charset="0"/>
              <a:cs typeface="Arial" panose="020B0604020202020204" pitchFamily="34" charset="0"/>
            </a:endParaRPr>
          </a:p>
        </p:txBody>
      </p:sp>
      <p:sp>
        <p:nvSpPr>
          <p:cNvPr id="29700" name="TextBox 4"/>
          <p:cNvSpPr txBox="1"/>
          <p:nvPr/>
        </p:nvSpPr>
        <p:spPr>
          <a:xfrm>
            <a:off x="2484438" y="5919788"/>
            <a:ext cx="4714875" cy="368300"/>
          </a:xfrm>
          <a:prstGeom prst="rect">
            <a:avLst/>
          </a:prstGeom>
          <a:noFill/>
          <a:ln w="9525">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just">
              <a:spcBef>
                <a:spcPct val="0"/>
              </a:spcBef>
              <a:buFontTx/>
              <a:buNone/>
            </a:pPr>
            <a:endParaRPr lang="en-IN" altLang="en-US" sz="1800">
              <a:latin typeface="Times New Roman" panose="02020603050405020304" pitchFamily="18" charset="0"/>
              <a:ea typeface="Times New Roman" panose="02020603050405020304" pitchFamily="18" charset="0"/>
            </a:endParaRPr>
          </a:p>
        </p:txBody>
      </p:sp>
      <p:pic>
        <p:nvPicPr>
          <p:cNvPr id="29701"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pic>
        <p:nvPicPr>
          <p:cNvPr id="7" name="Content Placeholder 6" descr="A diagram of a data flow&#10;&#10;Description automatically generated"/>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31595" y="1417955"/>
            <a:ext cx="6517640" cy="452628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vert="horz" wrap="square" lIns="91440" tIns="45720" rIns="91440" bIns="45720" anchor="ctr" anchorCtr="0"/>
          <a:lstStyle/>
          <a:p>
            <a:r>
              <a:rPr lang="en-US" altLang="en-US" sz="1500" b="1">
                <a:latin typeface="Times New Roman" panose="02020603050405020304" pitchFamily="18" charset="0"/>
                <a:cs typeface="Times New Roman" panose="02020603050405020304" pitchFamily="18" charset="0"/>
              </a:rPr>
              <a:t>usecase diagram</a:t>
            </a:r>
            <a:endParaRPr lang="en-IN" altLang="en-US" sz="1500"/>
          </a:p>
        </p:txBody>
      </p:sp>
      <p:sp>
        <p:nvSpPr>
          <p:cNvPr id="30723"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29</a:t>
            </a:fld>
            <a:endParaRPr lang="en-IN" altLang="en-US" sz="1200">
              <a:solidFill>
                <a:srgbClr val="898989"/>
              </a:solidFill>
              <a:ea typeface="Arial" panose="020B0604020202020204" pitchFamily="34" charset="0"/>
              <a:cs typeface="Arial" panose="020B0604020202020204" pitchFamily="34" charset="0"/>
            </a:endParaRPr>
          </a:p>
        </p:txBody>
      </p:sp>
      <p:pic>
        <p:nvPicPr>
          <p:cNvPr id="30725" name="Picture 2" descr="D:\GITAM-GST-CSE\2024-25\Capstone-Project\GITAM-newlogo.jpeg"/>
          <p:cNvPicPr>
            <a:picLocks noChangeAspect="1"/>
          </p:cNvPicPr>
          <p:nvPr/>
        </p:nvPicPr>
        <p:blipFill>
          <a:blip r:embed="rId2"/>
          <a:stretch>
            <a:fillRect/>
          </a:stretch>
        </p:blipFill>
        <p:spPr>
          <a:xfrm>
            <a:off x="6769100" y="19050"/>
            <a:ext cx="2339975" cy="962025"/>
          </a:xfrm>
          <a:prstGeom prst="rect">
            <a:avLst/>
          </a:prstGeom>
          <a:noFill/>
          <a:ln w="9525">
            <a:noFill/>
          </a:ln>
        </p:spPr>
      </p:pic>
      <p:pic>
        <p:nvPicPr>
          <p:cNvPr id="7" name="Content Placeholder 6" descr="A diagram of a person&#10;&#10;Description automatically generated"/>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3495" y="1600200"/>
            <a:ext cx="6556375" cy="452628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2875"/>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174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30</a:t>
            </a:fld>
            <a:endParaRPr lang="en-US" altLang="en-US" sz="1200">
              <a:solidFill>
                <a:srgbClr val="898989"/>
              </a:solidFill>
              <a:ea typeface="Arial" panose="020B0604020202020204" pitchFamily="34" charset="0"/>
              <a:cs typeface="Arial" panose="020B0604020202020204" pitchFamily="34" charset="0"/>
            </a:endParaRPr>
          </a:p>
        </p:txBody>
      </p:sp>
      <p:pic>
        <p:nvPicPr>
          <p:cNvPr id="3174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616075" y="1006475"/>
            <a:ext cx="5988050" cy="962025"/>
          </a:xfrm>
        </p:spPr>
        <p:txBody>
          <a:bodyPr vert="horz" wrap="square" lIns="91440" tIns="45720" rIns="91440" bIns="45720" anchor="ctr" anchorCtr="0"/>
          <a:lstStyle/>
          <a:p>
            <a:r>
              <a:rPr lang="en-IN" altLang="en-US" sz="4000" b="1">
                <a:latin typeface="Times New Roman" panose="02020603050405020304" pitchFamily="18" charset="0"/>
                <a:cs typeface="Times New Roman" panose="02020603050405020304" pitchFamily="18" charset="0"/>
              </a:rPr>
              <a:t>Status of Implementation</a:t>
            </a:r>
            <a:endParaRPr lang="en-IN" altLang="en-US" sz="4000" b="1">
              <a:latin typeface="Times New Roman" panose="02020603050405020304" pitchFamily="18" charset="0"/>
              <a:ea typeface="Times New Roman" panose="02020603050405020304" pitchFamily="18" charset="0"/>
            </a:endParaRPr>
          </a:p>
        </p:txBody>
      </p:sp>
      <p:sp>
        <p:nvSpPr>
          <p:cNvPr id="32771" name="Content Placeholder 2"/>
          <p:cNvSpPr>
            <a:spLocks noGrp="1"/>
          </p:cNvSpPr>
          <p:nvPr>
            <p:ph idx="1"/>
          </p:nvPr>
        </p:nvSpPr>
        <p:spPr>
          <a:xfrm>
            <a:off x="468313" y="2195513"/>
            <a:ext cx="8281987" cy="3384550"/>
          </a:xfrm>
        </p:spPr>
        <p:txBody>
          <a:bodyPr vert="horz" wrap="square" lIns="91440" tIns="45720" rIns="91440" bIns="45720" anchor="t" anchorCtr="0"/>
          <a:lstStyle/>
          <a:p>
            <a:pPr algn="just"/>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Packages : pandas</a:t>
            </a:r>
            <a:r>
              <a:rPr lang="en-IN" altLang="en-US" sz="2000" dirty="0">
                <a:latin typeface="Times New Roman" panose="02020603050405020304" pitchFamily="18" charset="0"/>
                <a:cs typeface="Times New Roman" panose="02020603050405020304" pitchFamily="18" charset="0"/>
              </a:rPr>
              <a:t>,</a:t>
            </a:r>
            <a:r>
              <a:rPr lang="en-IN" altLang="en-US" sz="2000" dirty="0" err="1">
                <a:latin typeface="Times New Roman" panose="02020603050405020304" pitchFamily="18" charset="0"/>
                <a:cs typeface="Times New Roman" panose="02020603050405020304" pitchFamily="18" charset="0"/>
              </a:rPr>
              <a:t>numpy</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Libraries : </a:t>
            </a:r>
            <a:r>
              <a:rPr lang="en-US" altLang="en-US" sz="2000" dirty="0" err="1">
                <a:latin typeface="Times New Roman" panose="02020603050405020304" pitchFamily="18" charset="0"/>
                <a:cs typeface="Times New Roman" panose="02020603050405020304" pitchFamily="18" charset="0"/>
              </a:rPr>
              <a:t>sk</a:t>
            </a:r>
            <a:r>
              <a:rPr lang="en-US" altLang="en-US" sz="2000" dirty="0">
                <a:latin typeface="Times New Roman" panose="02020603050405020304" pitchFamily="18" charset="0"/>
                <a:cs typeface="Times New Roman" panose="02020603050405020304" pitchFamily="18" charset="0"/>
              </a:rPr>
              <a:t> learn</a:t>
            </a:r>
            <a:r>
              <a:rPr lang="en-IN" altLang="en-US" sz="2000" dirty="0">
                <a:latin typeface="Times New Roman" panose="02020603050405020304" pitchFamily="18" charset="0"/>
                <a:cs typeface="Times New Roman" panose="02020603050405020304" pitchFamily="18" charset="0"/>
              </a:rPr>
              <a:t>,</a:t>
            </a:r>
            <a:r>
              <a:rPr lang="en-IN" altLang="en-US" sz="2000" dirty="0" err="1">
                <a:latin typeface="Times New Roman" panose="02020603050405020304" pitchFamily="18" charset="0"/>
                <a:cs typeface="Times New Roman" panose="02020603050405020304" pitchFamily="18" charset="0"/>
              </a:rPr>
              <a:t>tensorflow,scikit</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learn,matplot</a:t>
            </a:r>
            <a:r>
              <a:rPr lang="en-IN" altLang="en-US" sz="2000" dirty="0">
                <a:latin typeface="Times New Roman" panose="02020603050405020304" pitchFamily="18" charset="0"/>
                <a:cs typeface="Times New Roman" panose="02020603050405020304" pitchFamily="18" charset="0"/>
              </a:rPr>
              <a:t> lib.</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Classes : </a:t>
            </a:r>
            <a:r>
              <a:rPr lang="en-US" altLang="en-US" sz="2000" dirty="0" err="1">
                <a:latin typeface="Times New Roman" panose="02020603050405020304" pitchFamily="18" charset="0"/>
                <a:cs typeface="Times New Roman" panose="02020603050405020304" pitchFamily="18" charset="0"/>
              </a:rPr>
              <a:t>train_test_split</a:t>
            </a:r>
            <a:r>
              <a:rPr lang="en-IN"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classification_report</a:t>
            </a:r>
            <a:r>
              <a:rPr lang="en-IN"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accuracy_score</a:t>
            </a:r>
            <a:r>
              <a:rPr lang="en-IN" altLang="en-US" sz="2000" dirty="0">
                <a:latin typeface="Times New Roman" panose="02020603050405020304" pitchFamily="18" charset="0"/>
                <a:cs typeface="Times New Roman" panose="02020603050405020304" pitchFamily="18" charset="0"/>
              </a:rPr>
              <a:t>.</a:t>
            </a:r>
          </a:p>
          <a:p>
            <a:pPr algn="just"/>
            <a:r>
              <a:rPr lang="en-US" altLang="en-US" sz="2000" dirty="0">
                <a:latin typeface="Times New Roman" panose="02020603050405020304" pitchFamily="18" charset="0"/>
                <a:cs typeface="Times New Roman" panose="02020603050405020304" pitchFamily="18" charset="0"/>
              </a:rPr>
              <a:t>Methods : </a:t>
            </a:r>
            <a:r>
              <a:rPr lang="en-IN" altLang="en-US" sz="2000" dirty="0">
                <a:latin typeface="Times New Roman" panose="02020603050405020304" pitchFamily="18" charset="0"/>
                <a:cs typeface="Times New Roman" panose="02020603050405020304" pitchFamily="18" charset="0"/>
              </a:rPr>
              <a:t>Whale Optimization, XG boost, DNN.</a:t>
            </a:r>
            <a:endParaRPr lang="en-IN"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2772"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31</a:t>
            </a:fld>
            <a:endParaRPr lang="en-IN" altLang="en-US" sz="1200">
              <a:solidFill>
                <a:srgbClr val="898989"/>
              </a:solidFill>
              <a:ea typeface="Arial" panose="020B0604020202020204" pitchFamily="34" charset="0"/>
              <a:cs typeface="Arial" panose="020B0604020202020204" pitchFamily="34" charset="0"/>
            </a:endParaRPr>
          </a:p>
        </p:txBody>
      </p:sp>
      <p:pic>
        <p:nvPicPr>
          <p:cNvPr id="32773"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C9956-41AB-5F57-2888-9F82C51C49FA}"/>
            </a:ext>
          </a:extLst>
        </p:cNvPr>
        <p:cNvGrpSpPr/>
        <p:nvPr/>
      </p:nvGrpSpPr>
      <p:grpSpPr>
        <a:xfrm>
          <a:off x="0" y="0"/>
          <a:ext cx="0" cy="0"/>
          <a:chOff x="0" y="0"/>
          <a:chExt cx="0" cy="0"/>
        </a:xfrm>
      </p:grpSpPr>
      <p:sp>
        <p:nvSpPr>
          <p:cNvPr id="32771" name="Content Placeholder 2">
            <a:extLst>
              <a:ext uri="{FF2B5EF4-FFF2-40B4-BE49-F238E27FC236}">
                <a16:creationId xmlns:a16="http://schemas.microsoft.com/office/drawing/2014/main" id="{DC2749D0-83A5-4DAD-E74D-685A0CD0EA58}"/>
              </a:ext>
            </a:extLst>
          </p:cNvPr>
          <p:cNvSpPr>
            <a:spLocks noGrp="1"/>
          </p:cNvSpPr>
          <p:nvPr>
            <p:ph idx="1"/>
          </p:nvPr>
        </p:nvSpPr>
        <p:spPr>
          <a:xfrm>
            <a:off x="468313" y="1229194"/>
            <a:ext cx="8281987" cy="5492282"/>
          </a:xfrm>
        </p:spPr>
        <p:txBody>
          <a:bodyPr vert="horz" wrap="square" lIns="91440" tIns="45720" rIns="91440" bIns="45720" anchor="t" anchorCtr="0"/>
          <a:lstStyle/>
          <a:p>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Objective 1: *Collect and Preprocess the Dataset                                                    </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1. *Collect Dataset*:   - Identify and source a reliable dataset for online payment fraud detection.                                                                              Common datasets include:                                                                               - Publicly available datasets like those on Kaggle (e.g., the UPI’s Fraud Detection dataset).                                                                                       - Private datasets from finance institutions or payment systems.  </a:t>
            </a:r>
          </a:p>
          <a:p>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2.Explore and Understand the Data:</a:t>
            </a:r>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                                                                        -    Load the dataset and examine its structure:                                                    -      -Check the number of rows and columns.                                                      -  --Understand feature descriptions (categorical vs. numerical).                                        - Identify the target variable (fraudulent or not).</a:t>
            </a:r>
            <a:endParaRPr lang="en-IN"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2772" name="Slide Number Placeholder 3">
            <a:extLst>
              <a:ext uri="{FF2B5EF4-FFF2-40B4-BE49-F238E27FC236}">
                <a16:creationId xmlns:a16="http://schemas.microsoft.com/office/drawing/2014/main" id="{4CB67E72-E9C5-0E48-731A-62D87FAEE06F}"/>
              </a:ext>
            </a:extLst>
          </p:cNvPr>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32</a:t>
            </a:fld>
            <a:endParaRPr lang="en-IN" altLang="en-US" sz="1200">
              <a:solidFill>
                <a:srgbClr val="898989"/>
              </a:solidFill>
              <a:ea typeface="Arial" panose="020B0604020202020204" pitchFamily="34" charset="0"/>
              <a:cs typeface="Arial" panose="020B0604020202020204" pitchFamily="34" charset="0"/>
            </a:endParaRPr>
          </a:p>
        </p:txBody>
      </p:sp>
      <p:pic>
        <p:nvPicPr>
          <p:cNvPr id="32773" name="Picture 2" descr="D:\GITAM-GST-CSE\2024-25\Capstone-Project\GITAM-newlogo.jpeg">
            <a:extLst>
              <a:ext uri="{FF2B5EF4-FFF2-40B4-BE49-F238E27FC236}">
                <a16:creationId xmlns:a16="http://schemas.microsoft.com/office/drawing/2014/main" id="{9FA8A6FC-986C-43AE-D899-1E78AEF61486}"/>
              </a:ext>
            </a:extLst>
          </p:cNvPr>
          <p:cNvPicPr>
            <a:picLocks noChangeAspect="1"/>
          </p:cNvPicPr>
          <p:nvPr/>
        </p:nvPicPr>
        <p:blipFill>
          <a:blip r:embed="rId2"/>
          <a:stretch>
            <a:fillRect/>
          </a:stretch>
        </p:blipFill>
        <p:spPr>
          <a:xfrm>
            <a:off x="6804025" y="19050"/>
            <a:ext cx="2339975" cy="962025"/>
          </a:xfrm>
          <a:prstGeom prst="rect">
            <a:avLst/>
          </a:prstGeom>
          <a:noFill/>
          <a:ln w="9525">
            <a:noFill/>
          </a:ln>
        </p:spPr>
      </p:pic>
    </p:spTree>
    <p:extLst>
      <p:ext uri="{BB962C8B-B14F-4D97-AF65-F5344CB8AC3E}">
        <p14:creationId xmlns:p14="http://schemas.microsoft.com/office/powerpoint/2010/main" val="4162510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B02ED72-2EAB-B0E2-DF01-F32F61B76E11}"/>
              </a:ext>
            </a:extLst>
          </p:cNvPr>
          <p:cNvSpPr>
            <a:spLocks noGrp="1" noChangeArrowheads="1"/>
          </p:cNvSpPr>
          <p:nvPr>
            <p:ph idx="1"/>
          </p:nvPr>
        </p:nvSpPr>
        <p:spPr bwMode="auto">
          <a:xfrm>
            <a:off x="104931" y="774626"/>
            <a:ext cx="915899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Information Before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Rows: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10,010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Columns: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 Names: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 ID </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Amount </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Since</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Last</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 </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 Match </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Device Match </a:t>
            </a:r>
          </a:p>
          <a:p>
            <a:pPr marL="457200" marR="0" lvl="1"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 Channel </a:t>
            </a:r>
          </a:p>
          <a:p>
            <a:pPr marL="457200" marR="0" lvl="1"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Merchant Category </a:t>
            </a:r>
          </a:p>
          <a:p>
            <a:pPr marL="457200" marR="0" lvl="1"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Age </a:t>
            </a:r>
          </a:p>
          <a:p>
            <a:pPr marL="457200" marR="0" lvl="1"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Account Tenure </a:t>
            </a:r>
          </a:p>
          <a:p>
            <a:pPr marL="457200" marR="0" lvl="1"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Fraud Label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2" descr="D:\GITAM-GST-CSE\2024-25\Capstone-Project\GITAM-newlogo.jpeg">
            <a:extLst>
              <a:ext uri="{FF2B5EF4-FFF2-40B4-BE49-F238E27FC236}">
                <a16:creationId xmlns:a16="http://schemas.microsoft.com/office/drawing/2014/main" id="{3B5EEDC1-296C-EED3-0ABC-D9C11F32BE38}"/>
              </a:ext>
            </a:extLst>
          </p:cNvPr>
          <p:cNvPicPr>
            <a:picLocks noChangeAspect="1"/>
          </p:cNvPicPr>
          <p:nvPr/>
        </p:nvPicPr>
        <p:blipFill>
          <a:blip r:embed="rId2"/>
          <a:stretch>
            <a:fillRect/>
          </a:stretch>
        </p:blipFill>
        <p:spPr>
          <a:xfrm>
            <a:off x="6804025" y="19050"/>
            <a:ext cx="2339975" cy="962025"/>
          </a:xfrm>
          <a:prstGeom prst="rect">
            <a:avLst/>
          </a:prstGeom>
          <a:noFill/>
          <a:ln w="9525">
            <a:noFill/>
          </a:ln>
        </p:spPr>
      </p:pic>
    </p:spTree>
    <p:extLst>
      <p:ext uri="{BB962C8B-B14F-4D97-AF65-F5344CB8AC3E}">
        <p14:creationId xmlns:p14="http://schemas.microsoft.com/office/powerpoint/2010/main" val="870228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C3AFC-4203-A62F-BC85-C412595F7AAA}"/>
              </a:ext>
            </a:extLst>
          </p:cNvPr>
          <p:cNvSpPr>
            <a:spLocks noGrp="1"/>
          </p:cNvSpPr>
          <p:nvPr>
            <p:ph idx="1"/>
          </p:nvPr>
        </p:nvSpPr>
        <p:spPr>
          <a:xfrm>
            <a:off x="443060" y="692696"/>
            <a:ext cx="8229600" cy="4886003"/>
          </a:xfrm>
        </p:spPr>
        <p:txBody>
          <a:bodyPr/>
          <a:lstStyle/>
          <a:p>
            <a:r>
              <a:rPr lang="en-US" sz="2000" b="1">
                <a:latin typeface="Times New Roman" panose="02020603050405020304" pitchFamily="18" charset="0"/>
                <a:cs typeface="Times New Roman" panose="02020603050405020304" pitchFamily="18" charset="0"/>
              </a:rPr>
              <a:t>Features:</a:t>
            </a:r>
          </a:p>
          <a:p>
            <a:pPr>
              <a:buFont typeface="+mj-lt"/>
              <a:buAutoNum type="arabicPeriod"/>
            </a:pPr>
            <a:r>
              <a:rPr lang="en-US" sz="2000" b="1">
                <a:latin typeface="Times New Roman" panose="02020603050405020304" pitchFamily="18" charset="0"/>
                <a:cs typeface="Times New Roman" panose="02020603050405020304" pitchFamily="18" charset="0"/>
              </a:rPr>
              <a:t>Transaction ID</a:t>
            </a:r>
            <a:r>
              <a:rPr lang="en-US" sz="2000">
                <a:latin typeface="Times New Roman" panose="02020603050405020304" pitchFamily="18" charset="0"/>
                <a:cs typeface="Times New Roman" panose="02020603050405020304" pitchFamily="18" charset="0"/>
              </a:rPr>
              <a:t>: Unique identifier for each transaction (categorical, will be excluded during modeling).</a:t>
            </a:r>
          </a:p>
          <a:p>
            <a:pPr>
              <a:buFont typeface="+mj-lt"/>
              <a:buAutoNum type="arabicPeriod"/>
            </a:pPr>
            <a:r>
              <a:rPr lang="en-US" sz="2000" b="1">
                <a:latin typeface="Times New Roman" panose="02020603050405020304" pitchFamily="18" charset="0"/>
                <a:cs typeface="Times New Roman" panose="02020603050405020304" pitchFamily="18" charset="0"/>
              </a:rPr>
              <a:t>Amount</a:t>
            </a:r>
            <a:r>
              <a:rPr lang="en-US" sz="2000">
                <a:latin typeface="Times New Roman" panose="02020603050405020304" pitchFamily="18" charset="0"/>
                <a:cs typeface="Times New Roman" panose="02020603050405020304" pitchFamily="18" charset="0"/>
              </a:rPr>
              <a:t>: Transaction amount (numeric).</a:t>
            </a:r>
          </a:p>
          <a:p>
            <a:pPr>
              <a:buFont typeface="+mj-lt"/>
              <a:buAutoNum type="arabicPeriod"/>
            </a:pPr>
            <a:r>
              <a:rPr lang="en-US" sz="2000" b="1">
                <a:latin typeface="Times New Roman" panose="02020603050405020304" pitchFamily="18" charset="0"/>
                <a:cs typeface="Times New Roman" panose="02020603050405020304" pitchFamily="18" charset="0"/>
              </a:rPr>
              <a:t>Time Since Last Transaction</a:t>
            </a:r>
            <a:r>
              <a:rPr lang="en-US" sz="2000">
                <a:latin typeface="Times New Roman" panose="02020603050405020304" pitchFamily="18" charset="0"/>
                <a:cs typeface="Times New Roman" panose="02020603050405020304" pitchFamily="18" charset="0"/>
              </a:rPr>
              <a:t>: Time since the last transaction (numeric).</a:t>
            </a:r>
          </a:p>
          <a:p>
            <a:pPr>
              <a:buFont typeface="+mj-lt"/>
              <a:buAutoNum type="arabicPeriod"/>
            </a:pPr>
            <a:r>
              <a:rPr lang="en-US" sz="2000" b="1">
                <a:latin typeface="Times New Roman" panose="02020603050405020304" pitchFamily="18" charset="0"/>
                <a:cs typeface="Times New Roman" panose="02020603050405020304" pitchFamily="18" charset="0"/>
              </a:rPr>
              <a:t>Location Match</a:t>
            </a:r>
            <a:r>
              <a:rPr lang="en-US" sz="2000">
                <a:latin typeface="Times New Roman" panose="02020603050405020304" pitchFamily="18" charset="0"/>
                <a:cs typeface="Times New Roman" panose="02020603050405020304" pitchFamily="18" charset="0"/>
              </a:rPr>
              <a:t>: Binary indicator if the transaction's location matches expected (0 or 1).</a:t>
            </a:r>
          </a:p>
          <a:p>
            <a:pPr>
              <a:buFont typeface="+mj-lt"/>
              <a:buAutoNum type="arabicPeriod"/>
            </a:pPr>
            <a:r>
              <a:rPr lang="en-US" sz="2000" b="1">
                <a:latin typeface="Times New Roman" panose="02020603050405020304" pitchFamily="18" charset="0"/>
                <a:cs typeface="Times New Roman" panose="02020603050405020304" pitchFamily="18" charset="0"/>
              </a:rPr>
              <a:t>Device Match</a:t>
            </a:r>
            <a:r>
              <a:rPr lang="en-US" sz="2000">
                <a:latin typeface="Times New Roman" panose="02020603050405020304" pitchFamily="18" charset="0"/>
                <a:cs typeface="Times New Roman" panose="02020603050405020304" pitchFamily="18" charset="0"/>
              </a:rPr>
              <a:t>: Binary indicator if the device matches the user's usual device (0 or 1).</a:t>
            </a:r>
          </a:p>
          <a:p>
            <a:pPr>
              <a:buFont typeface="+mj-lt"/>
              <a:buAutoNum type="arabicPeriod"/>
            </a:pPr>
            <a:r>
              <a:rPr lang="en-US" sz="2000" b="1">
                <a:latin typeface="Times New Roman" panose="02020603050405020304" pitchFamily="18" charset="0"/>
                <a:cs typeface="Times New Roman" panose="02020603050405020304" pitchFamily="18" charset="0"/>
              </a:rPr>
              <a:t>Transaction Channel</a:t>
            </a:r>
            <a:r>
              <a:rPr lang="en-US" sz="2000">
                <a:latin typeface="Times New Roman" panose="02020603050405020304" pitchFamily="18" charset="0"/>
                <a:cs typeface="Times New Roman" panose="02020603050405020304" pitchFamily="18" charset="0"/>
              </a:rPr>
              <a:t>: The channel used for the transaction (e.g., Mobile, Web).</a:t>
            </a:r>
          </a:p>
          <a:p>
            <a:pPr>
              <a:buFont typeface="+mj-lt"/>
              <a:buAutoNum type="arabicPeriod"/>
            </a:pPr>
            <a:r>
              <a:rPr lang="en-US" sz="2000" b="1">
                <a:latin typeface="Times New Roman" panose="02020603050405020304" pitchFamily="18" charset="0"/>
                <a:cs typeface="Times New Roman" panose="02020603050405020304" pitchFamily="18" charset="0"/>
              </a:rPr>
              <a:t>Merchant Category</a:t>
            </a:r>
            <a:r>
              <a:rPr lang="en-US" sz="2000">
                <a:latin typeface="Times New Roman" panose="02020603050405020304" pitchFamily="18" charset="0"/>
                <a:cs typeface="Times New Roman" panose="02020603050405020304" pitchFamily="18" charset="0"/>
              </a:rPr>
              <a:t>: Type of merchant (categorical).</a:t>
            </a:r>
          </a:p>
          <a:p>
            <a:pPr>
              <a:buFont typeface="+mj-lt"/>
              <a:buAutoNum type="arabicPeriod"/>
            </a:pPr>
            <a:r>
              <a:rPr lang="en-US" sz="2000" b="1">
                <a:latin typeface="Times New Roman" panose="02020603050405020304" pitchFamily="18" charset="0"/>
                <a:cs typeface="Times New Roman" panose="02020603050405020304" pitchFamily="18" charset="0"/>
              </a:rPr>
              <a:t>User Age</a:t>
            </a:r>
            <a:r>
              <a:rPr lang="en-US" sz="2000">
                <a:latin typeface="Times New Roman" panose="02020603050405020304" pitchFamily="18" charset="0"/>
                <a:cs typeface="Times New Roman" panose="02020603050405020304" pitchFamily="18" charset="0"/>
              </a:rPr>
              <a:t>: Age of the user (numeric).</a:t>
            </a:r>
          </a:p>
          <a:p>
            <a:pPr>
              <a:buFont typeface="+mj-lt"/>
              <a:buAutoNum type="arabicPeriod"/>
            </a:pPr>
            <a:r>
              <a:rPr lang="en-US" sz="2000" b="1">
                <a:latin typeface="Times New Roman" panose="02020603050405020304" pitchFamily="18" charset="0"/>
                <a:cs typeface="Times New Roman" panose="02020603050405020304" pitchFamily="18" charset="0"/>
              </a:rPr>
              <a:t>Account Tenure</a:t>
            </a:r>
            <a:r>
              <a:rPr lang="en-US" sz="2000">
                <a:latin typeface="Times New Roman" panose="02020603050405020304" pitchFamily="18" charset="0"/>
                <a:cs typeface="Times New Roman" panose="02020603050405020304" pitchFamily="18" charset="0"/>
              </a:rPr>
              <a:t>: Length of time the account has been active (numeric).</a:t>
            </a:r>
          </a:p>
          <a:p>
            <a:pPr>
              <a:buFont typeface="+mj-lt"/>
              <a:buAutoNum type="arabicPeriod"/>
            </a:pPr>
            <a:r>
              <a:rPr lang="en-US" sz="2000" b="1">
                <a:latin typeface="Times New Roman" panose="02020603050405020304" pitchFamily="18" charset="0"/>
                <a:cs typeface="Times New Roman" panose="02020603050405020304" pitchFamily="18" charset="0"/>
              </a:rPr>
              <a:t>Fraud Label</a:t>
            </a:r>
            <a:r>
              <a:rPr lang="en-US" sz="2000">
                <a:latin typeface="Times New Roman" panose="02020603050405020304" pitchFamily="18" charset="0"/>
                <a:cs typeface="Times New Roman" panose="02020603050405020304" pitchFamily="18" charset="0"/>
              </a:rPr>
              <a:t>: Target variable indicating whether the transaction was fraudulent (0 or 1)</a:t>
            </a:r>
            <a:endParaRPr lang="en-US" sz="2000" b="1">
              <a:latin typeface="Times New Roman" panose="02020603050405020304" pitchFamily="18" charset="0"/>
              <a:cs typeface="Times New Roman" panose="02020603050405020304" pitchFamily="18" charset="0"/>
            </a:endParaRPr>
          </a:p>
          <a:p>
            <a:endParaRPr lang="en-IN" sz="2000">
              <a:latin typeface="Times New Roman" panose="02020603050405020304" pitchFamily="18" charset="0"/>
              <a:cs typeface="Times New Roman" panose="02020603050405020304" pitchFamily="18" charset="0"/>
            </a:endParaRPr>
          </a:p>
        </p:txBody>
      </p:sp>
      <p:pic>
        <p:nvPicPr>
          <p:cNvPr id="4" name="Picture 2" descr="D:\GITAM-GST-CSE\2024-25\Capstone-Project\GITAM-newlogo.jpeg">
            <a:extLst>
              <a:ext uri="{FF2B5EF4-FFF2-40B4-BE49-F238E27FC236}">
                <a16:creationId xmlns:a16="http://schemas.microsoft.com/office/drawing/2014/main" id="{C4ADC427-65D0-BE49-425E-1A782047ED05}"/>
              </a:ext>
            </a:extLst>
          </p:cNvPr>
          <p:cNvPicPr>
            <a:picLocks noChangeAspect="1"/>
          </p:cNvPicPr>
          <p:nvPr/>
        </p:nvPicPr>
        <p:blipFill>
          <a:blip r:embed="rId2"/>
          <a:stretch>
            <a:fillRect/>
          </a:stretch>
        </p:blipFill>
        <p:spPr>
          <a:xfrm>
            <a:off x="6804025" y="-41822"/>
            <a:ext cx="2339975" cy="962025"/>
          </a:xfrm>
          <a:prstGeom prst="rect">
            <a:avLst/>
          </a:prstGeom>
          <a:noFill/>
          <a:ln w="9525">
            <a:noFill/>
          </a:ln>
        </p:spPr>
      </p:pic>
    </p:spTree>
    <p:extLst>
      <p:ext uri="{BB962C8B-B14F-4D97-AF65-F5344CB8AC3E}">
        <p14:creationId xmlns:p14="http://schemas.microsoft.com/office/powerpoint/2010/main" val="3267761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1F46CD1-A540-4225-1A98-DE112849734A}"/>
              </a:ext>
            </a:extLst>
          </p:cNvPr>
          <p:cNvSpPr>
            <a:spLocks noGrp="1" noChangeArrowheads="1"/>
          </p:cNvSpPr>
          <p:nvPr>
            <p:ph idx="1"/>
          </p:nvPr>
        </p:nvSpPr>
        <p:spPr bwMode="auto">
          <a:xfrm>
            <a:off x="0" y="-160296"/>
            <a:ext cx="9278911"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Times New Roman" panose="02020603050405020304" pitchFamily="18" charset="0"/>
                <a:cs typeface="Times New Roman" panose="02020603050405020304" pitchFamily="18" charset="0"/>
              </a:rPr>
              <a:t>Dataset After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the Dataset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Load the dataset from the provided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 Missing Values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if there are any missing values.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missing values exist:</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Fill missing values with the column median (or another strategy, like mean or mode).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Encode Categorical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categorical columns (e.g., Transaction Channel, Merchant Category).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 these categorical columns into numerical format using encoding techniques (e.g., label encoding).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Normalize Numerical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numerical columns (e.g., Amount, Time Since</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Last</a:t>
            </a: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 User Age, Account</a:t>
            </a:r>
            <a:r>
              <a:rPr lang="en-US" altLang="en-US" sz="1800" dirty="0">
                <a:latin typeface="Times New Roman" panose="02020603050405020304" pitchFamily="18" charset="0"/>
                <a:cs typeface="Times New Roman" panose="02020603050405020304" pitchFamily="18" charset="0"/>
              </a:rPr>
              <a:t> 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Min-Max Normalization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scale these features into the range [0,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Scale Numerical Features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Scaling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standardize numerical columns so they have: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 =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Deviation =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 the Cleaned Dataset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Save the cleaned dataset to a new file (e.g., cleaned_dataset.csv).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Preview Cleaned Dataset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Print the first few rows of the cleaned dataset to verify the changes.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2" descr="D:\GITAM-GST-CSE\2024-25\Capstone-Project\GITAM-newlogo.jpeg">
            <a:extLst>
              <a:ext uri="{FF2B5EF4-FFF2-40B4-BE49-F238E27FC236}">
                <a16:creationId xmlns:a16="http://schemas.microsoft.com/office/drawing/2014/main" id="{607DED32-4ACE-63A9-6ADE-EFD5F8966EA1}"/>
              </a:ext>
            </a:extLst>
          </p:cNvPr>
          <p:cNvPicPr>
            <a:picLocks noChangeAspect="1"/>
          </p:cNvPicPr>
          <p:nvPr/>
        </p:nvPicPr>
        <p:blipFill>
          <a:blip r:embed="rId2"/>
          <a:stretch>
            <a:fillRect/>
          </a:stretch>
        </p:blipFill>
        <p:spPr>
          <a:xfrm>
            <a:off x="6804025" y="19050"/>
            <a:ext cx="2339975" cy="962025"/>
          </a:xfrm>
          <a:prstGeom prst="rect">
            <a:avLst/>
          </a:prstGeom>
          <a:noFill/>
          <a:ln w="9525">
            <a:noFill/>
          </a:ln>
        </p:spPr>
      </p:pic>
    </p:spTree>
    <p:extLst>
      <p:ext uri="{BB962C8B-B14F-4D97-AF65-F5344CB8AC3E}">
        <p14:creationId xmlns:p14="http://schemas.microsoft.com/office/powerpoint/2010/main" val="3495234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7B3C4-0821-0B5E-3858-79EB6E63AA71}"/>
              </a:ext>
            </a:extLst>
          </p:cNvPr>
          <p:cNvSpPr>
            <a:spLocks noGrp="1"/>
          </p:cNvSpPr>
          <p:nvPr>
            <p:ph idx="1"/>
          </p:nvPr>
        </p:nvSpPr>
        <p:spPr>
          <a:xfrm>
            <a:off x="457200" y="989350"/>
            <a:ext cx="8229600" cy="5621311"/>
          </a:xfrm>
        </p:spPr>
        <p:txBody>
          <a:bodyPr/>
          <a:lstStyle/>
          <a:p>
            <a:pPr marL="0" indent="0">
              <a:buNone/>
            </a:pP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1.Normalization in Dataset Preprocessing and Collection</a:t>
            </a:r>
          </a:p>
          <a:p>
            <a:r>
              <a:rPr lang="en-US" sz="2000" dirty="0">
                <a:latin typeface="Times New Roman" panose="02020603050405020304" pitchFamily="18" charset="0"/>
                <a:cs typeface="Times New Roman" panose="02020603050405020304" pitchFamily="18" charset="0"/>
              </a:rPr>
              <a:t>Normalization is a crucial data preprocessing step when working with machine learning models. It rescales data into a specific range (commonly [0, 1] or [-1, 1]) to ensure consistent feature magnitudes, which has direct implications for both dataset collection and preprocessing.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Scaling in Dataset Preprocessing</a:t>
            </a:r>
          </a:p>
          <a:p>
            <a:r>
              <a:rPr lang="en-US" sz="2000" dirty="0">
                <a:latin typeface="Times New Roman" panose="02020603050405020304" pitchFamily="18" charset="0"/>
                <a:cs typeface="Times New Roman" panose="02020603050405020304" pitchFamily="18" charset="0"/>
              </a:rPr>
              <a:t>Scaling ensures that numerical features are standardized to a consistent range or distribution, which helps machine learning algorithms perform optimally.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Scaling Techniques in Preprocessing: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Min-Max Scaling</a:t>
            </a:r>
            <a:r>
              <a:rPr lang="en-US" sz="2000" dirty="0">
                <a:latin typeface="Times New Roman" panose="02020603050405020304" pitchFamily="18" charset="0"/>
                <a:cs typeface="Times New Roman" panose="02020603050405020304" pitchFamily="18" charset="0"/>
              </a:rPr>
              <a:t>:   Normalizes data to a range [0, 1].</a:t>
            </a:r>
          </a:p>
          <a:p>
            <a:pPr>
              <a:buFont typeface="Arial" panose="020B0604020202020204" pitchFamily="34" charset="0"/>
              <a:buChar char="•"/>
            </a:pPr>
            <a:endParaRPr lang="en-US" sz="1200" dirty="0"/>
          </a:p>
          <a:p>
            <a:pPr>
              <a:buFont typeface="Arial" panose="020B0604020202020204" pitchFamily="34" charset="0"/>
              <a:buChar char="•"/>
            </a:pPr>
            <a:endParaRPr lang="en-US" sz="1200" dirty="0"/>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21" name="Picture 2" descr="D:\GITAM-GST-CSE\2024-25\Capstone-Project\GITAM-newlogo.jpeg">
            <a:extLst>
              <a:ext uri="{FF2B5EF4-FFF2-40B4-BE49-F238E27FC236}">
                <a16:creationId xmlns:a16="http://schemas.microsoft.com/office/drawing/2014/main" id="{41A56C7E-85E3-971F-29EA-A218FE4165AD}"/>
              </a:ext>
            </a:extLst>
          </p:cNvPr>
          <p:cNvPicPr>
            <a:picLocks noChangeAspect="1"/>
          </p:cNvPicPr>
          <p:nvPr/>
        </p:nvPicPr>
        <p:blipFill>
          <a:blip r:embed="rId2"/>
          <a:stretch>
            <a:fillRect/>
          </a:stretch>
        </p:blipFill>
        <p:spPr>
          <a:xfrm>
            <a:off x="6804025" y="19050"/>
            <a:ext cx="2339975" cy="962025"/>
          </a:xfrm>
          <a:prstGeom prst="rect">
            <a:avLst/>
          </a:prstGeom>
          <a:noFill/>
          <a:ln w="9525">
            <a:noFill/>
          </a:ln>
        </p:spPr>
      </p:pic>
    </p:spTree>
    <p:extLst>
      <p:ext uri="{BB962C8B-B14F-4D97-AF65-F5344CB8AC3E}">
        <p14:creationId xmlns:p14="http://schemas.microsoft.com/office/powerpoint/2010/main" val="2330383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536F-15B2-BFF0-D935-2E89D1E28E94}"/>
              </a:ext>
            </a:extLst>
          </p:cNvPr>
          <p:cNvSpPr>
            <a:spLocks noGrp="1"/>
          </p:cNvSpPr>
          <p:nvPr>
            <p:ph type="title"/>
          </p:nvPr>
        </p:nvSpPr>
        <p:spPr>
          <a:xfrm>
            <a:off x="457200" y="274638"/>
            <a:ext cx="8229600" cy="537669"/>
          </a:xfrm>
        </p:spPr>
        <p:txBody>
          <a:bodyPr/>
          <a:lstStyle/>
          <a:p>
            <a:r>
              <a:rPr lang="en-US" dirty="0"/>
              <a:t>Normalization and Scaling </a:t>
            </a:r>
          </a:p>
        </p:txBody>
      </p:sp>
      <p:pic>
        <p:nvPicPr>
          <p:cNvPr id="5" name="Content Placeholder 4">
            <a:extLst>
              <a:ext uri="{FF2B5EF4-FFF2-40B4-BE49-F238E27FC236}">
                <a16:creationId xmlns:a16="http://schemas.microsoft.com/office/drawing/2014/main" id="{42027D85-CD63-D94E-A1D6-667713AA3B71}"/>
              </a:ext>
            </a:extLst>
          </p:cNvPr>
          <p:cNvPicPr>
            <a:picLocks noGrp="1" noChangeAspect="1"/>
          </p:cNvPicPr>
          <p:nvPr>
            <p:ph idx="1"/>
          </p:nvPr>
        </p:nvPicPr>
        <p:blipFill>
          <a:blip r:embed="rId2"/>
          <a:stretch>
            <a:fillRect/>
          </a:stretch>
        </p:blipFill>
        <p:spPr>
          <a:xfrm>
            <a:off x="247338" y="1143001"/>
            <a:ext cx="8791732" cy="5587583"/>
          </a:xfrm>
        </p:spPr>
      </p:pic>
    </p:spTree>
    <p:extLst>
      <p:ext uri="{BB962C8B-B14F-4D97-AF65-F5344CB8AC3E}">
        <p14:creationId xmlns:p14="http://schemas.microsoft.com/office/powerpoint/2010/main" val="1696263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E8D0C-AE7C-A4D0-951A-C720CBC43437}"/>
              </a:ext>
            </a:extLst>
          </p:cNvPr>
          <p:cNvSpPr>
            <a:spLocks noGrp="1"/>
          </p:cNvSpPr>
          <p:nvPr>
            <p:ph type="title"/>
          </p:nvPr>
        </p:nvSpPr>
        <p:spPr/>
        <p:txBody>
          <a:bodyPr/>
          <a:lstStyle/>
          <a:p>
            <a:r>
              <a:rPr lang="en-US" dirty="0"/>
              <a:t>Output for Normalization &amp; Scaling</a:t>
            </a:r>
          </a:p>
        </p:txBody>
      </p:sp>
      <p:pic>
        <p:nvPicPr>
          <p:cNvPr id="5" name="Content Placeholder 4">
            <a:extLst>
              <a:ext uri="{FF2B5EF4-FFF2-40B4-BE49-F238E27FC236}">
                <a16:creationId xmlns:a16="http://schemas.microsoft.com/office/drawing/2014/main" id="{A61EEB84-28C3-47F6-5C6B-A8B526757954}"/>
              </a:ext>
            </a:extLst>
          </p:cNvPr>
          <p:cNvPicPr>
            <a:picLocks noGrp="1" noChangeAspect="1"/>
          </p:cNvPicPr>
          <p:nvPr>
            <p:ph idx="1"/>
          </p:nvPr>
        </p:nvPicPr>
        <p:blipFill>
          <a:blip r:embed="rId2"/>
          <a:stretch>
            <a:fillRect/>
          </a:stretch>
        </p:blipFill>
        <p:spPr>
          <a:xfrm>
            <a:off x="149901" y="1912314"/>
            <a:ext cx="9004803" cy="4038781"/>
          </a:xfrm>
        </p:spPr>
      </p:pic>
    </p:spTree>
    <p:extLst>
      <p:ext uri="{BB962C8B-B14F-4D97-AF65-F5344CB8AC3E}">
        <p14:creationId xmlns:p14="http://schemas.microsoft.com/office/powerpoint/2010/main" val="3656049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1AA43-4F6B-D724-B1AA-AF934E172252}"/>
              </a:ext>
            </a:extLst>
          </p:cNvPr>
          <p:cNvSpPr>
            <a:spLocks noGrp="1"/>
          </p:cNvSpPr>
          <p:nvPr>
            <p:ph idx="1"/>
          </p:nvPr>
        </p:nvSpPr>
        <p:spPr>
          <a:xfrm>
            <a:off x="569625" y="1304143"/>
            <a:ext cx="8319541" cy="4822019"/>
          </a:xfrm>
        </p:spPr>
        <p:txBody>
          <a:bodyPr/>
          <a:lstStyle/>
          <a:p>
            <a:r>
              <a:rPr lang="en-US" sz="2000" b="1" dirty="0">
                <a:latin typeface="Times New Roman" panose="02020603050405020304" pitchFamily="18" charset="0"/>
                <a:cs typeface="Times New Roman" panose="02020603050405020304" pitchFamily="18" charset="0"/>
              </a:rPr>
              <a:t>No missing values</a:t>
            </a:r>
            <a:r>
              <a:rPr lang="en-US" sz="2000" dirty="0">
                <a:latin typeface="Times New Roman" panose="02020603050405020304" pitchFamily="18" charset="0"/>
                <a:cs typeface="Times New Roman" panose="02020603050405020304" pitchFamily="18" charset="0"/>
              </a:rPr>
              <a:t>: All null/missing entries will be filled.</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Encoded categorical features: </a:t>
            </a:r>
            <a:r>
              <a:rPr lang="en-US" sz="2000" dirty="0">
                <a:latin typeface="Times New Roman" panose="02020603050405020304" pitchFamily="18" charset="0"/>
                <a:cs typeface="Times New Roman" panose="02020603050405020304" pitchFamily="18" charset="0"/>
              </a:rPr>
              <a:t>Categorical columns (e.g. Transaction channel) will be converted to numerical values.</a:t>
            </a:r>
          </a:p>
          <a:p>
            <a:r>
              <a:rPr lang="en-US" sz="2000" b="1" dirty="0">
                <a:latin typeface="Times New Roman" panose="02020603050405020304" pitchFamily="18" charset="0"/>
                <a:cs typeface="Times New Roman" panose="02020603050405020304" pitchFamily="18" charset="0"/>
              </a:rPr>
              <a:t> Normalized numerical features: </a:t>
            </a:r>
            <a:r>
              <a:rPr lang="en-US" sz="2000" dirty="0">
                <a:latin typeface="Times New Roman" panose="02020603050405020304" pitchFamily="18" charset="0"/>
                <a:cs typeface="Times New Roman" panose="02020603050405020304" pitchFamily="18" charset="0"/>
              </a:rPr>
              <a:t>Numerical columns will be rescaled t range [0,1].</a:t>
            </a:r>
          </a:p>
          <a:p>
            <a:r>
              <a:rPr lang="en-US" sz="2000" b="1" dirty="0">
                <a:latin typeface="Times New Roman" panose="02020603050405020304" pitchFamily="18" charset="0"/>
                <a:cs typeface="Times New Roman" panose="02020603050405020304" pitchFamily="18" charset="0"/>
              </a:rPr>
              <a:t> Standardized numerical features: </a:t>
            </a:r>
            <a:r>
              <a:rPr lang="en-US" sz="2000" dirty="0">
                <a:latin typeface="Times New Roman" panose="02020603050405020304" pitchFamily="18" charset="0"/>
                <a:cs typeface="Times New Roman" panose="02020603050405020304" pitchFamily="18" charset="0"/>
              </a:rPr>
              <a:t>Numerical columns will have a mean of 0 and standard deviation of 1.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Dataset link:  </a:t>
            </a: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"C:\Users\91778\Downloads\augmented_online_payment_fraud_dataset.csv"</a:t>
            </a:r>
          </a:p>
        </p:txBody>
      </p:sp>
      <p:pic>
        <p:nvPicPr>
          <p:cNvPr id="8" name="Picture 2" descr="D:\GITAM-GST-CSE\2024-25\Capstone-Project\GITAM-newlogo.jpeg">
            <a:extLst>
              <a:ext uri="{FF2B5EF4-FFF2-40B4-BE49-F238E27FC236}">
                <a16:creationId xmlns:a16="http://schemas.microsoft.com/office/drawing/2014/main" id="{55A29894-F34A-BB5A-D3DF-38946C117506}"/>
              </a:ext>
            </a:extLst>
          </p:cNvPr>
          <p:cNvPicPr>
            <a:picLocks noChangeAspect="1"/>
          </p:cNvPicPr>
          <p:nvPr/>
        </p:nvPicPr>
        <p:blipFill>
          <a:blip r:embed="rId2"/>
          <a:stretch>
            <a:fillRect/>
          </a:stretch>
        </p:blipFill>
        <p:spPr>
          <a:xfrm>
            <a:off x="6804025" y="19050"/>
            <a:ext cx="2339975" cy="962025"/>
          </a:xfrm>
          <a:prstGeom prst="rect">
            <a:avLst/>
          </a:prstGeom>
          <a:noFill/>
          <a:ln w="9525">
            <a:noFill/>
          </a:ln>
        </p:spPr>
      </p:pic>
    </p:spTree>
    <p:extLst>
      <p:ext uri="{BB962C8B-B14F-4D97-AF65-F5344CB8AC3E}">
        <p14:creationId xmlns:p14="http://schemas.microsoft.com/office/powerpoint/2010/main" val="741670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1258-6E55-B0A5-6A92-4695E0A3B426}"/>
              </a:ext>
            </a:extLst>
          </p:cNvPr>
          <p:cNvSpPr>
            <a:spLocks noGrp="1"/>
          </p:cNvSpPr>
          <p:nvPr>
            <p:ph type="title"/>
          </p:nvPr>
        </p:nvSpPr>
        <p:spPr/>
        <p:txBody>
          <a:bodyPr/>
          <a:lstStyle/>
          <a:p>
            <a:r>
              <a:rPr lang="en-US" sz="4800"/>
              <a:t>DATASET</a:t>
            </a:r>
            <a:endParaRPr lang="en-IN" sz="4800"/>
          </a:p>
        </p:txBody>
      </p:sp>
      <p:pic>
        <p:nvPicPr>
          <p:cNvPr id="5" name="Content Placeholder 4">
            <a:extLst>
              <a:ext uri="{FF2B5EF4-FFF2-40B4-BE49-F238E27FC236}">
                <a16:creationId xmlns:a16="http://schemas.microsoft.com/office/drawing/2014/main" id="{57B9E2EF-2E90-AEF8-301C-CD5C4E6559E6}"/>
              </a:ext>
            </a:extLst>
          </p:cNvPr>
          <p:cNvPicPr>
            <a:picLocks noGrp="1" noChangeAspect="1"/>
          </p:cNvPicPr>
          <p:nvPr>
            <p:ph idx="1"/>
          </p:nvPr>
        </p:nvPicPr>
        <p:blipFill>
          <a:blip r:embed="rId2"/>
          <a:stretch>
            <a:fillRect/>
          </a:stretch>
        </p:blipFill>
        <p:spPr>
          <a:xfrm>
            <a:off x="1" y="1653102"/>
            <a:ext cx="9126302" cy="4656218"/>
          </a:xfrm>
        </p:spPr>
      </p:pic>
      <p:pic>
        <p:nvPicPr>
          <p:cNvPr id="3" name="Picture 2" descr="D:\GITAM-GST-CSE\2024-25\Capstone-Project\GITAM-newlogo.jpeg">
            <a:extLst>
              <a:ext uri="{FF2B5EF4-FFF2-40B4-BE49-F238E27FC236}">
                <a16:creationId xmlns:a16="http://schemas.microsoft.com/office/drawing/2014/main" id="{A5397414-A5A4-DEB0-6063-862FF9F84D31}"/>
              </a:ext>
            </a:extLst>
          </p:cNvPr>
          <p:cNvPicPr>
            <a:picLocks noChangeAspect="1"/>
          </p:cNvPicPr>
          <p:nvPr/>
        </p:nvPicPr>
        <p:blipFill>
          <a:blip r:embed="rId3"/>
          <a:stretch>
            <a:fillRect/>
          </a:stretch>
        </p:blipFill>
        <p:spPr>
          <a:xfrm>
            <a:off x="6837318" y="-11753"/>
            <a:ext cx="2339975" cy="962025"/>
          </a:xfrm>
          <a:prstGeom prst="rect">
            <a:avLst/>
          </a:prstGeom>
          <a:noFill/>
          <a:ln w="9525">
            <a:noFill/>
          </a:ln>
        </p:spPr>
      </p:pic>
    </p:spTree>
    <p:extLst>
      <p:ext uri="{BB962C8B-B14F-4D97-AF65-F5344CB8AC3E}">
        <p14:creationId xmlns:p14="http://schemas.microsoft.com/office/powerpoint/2010/main" val="2447142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774D8-9E0B-8A09-45DB-AC6CDBFF03F5}"/>
              </a:ext>
            </a:extLst>
          </p:cNvPr>
          <p:cNvSpPr>
            <a:spLocks noGrp="1"/>
          </p:cNvSpPr>
          <p:nvPr>
            <p:ph idx="1"/>
          </p:nvPr>
        </p:nvSpPr>
        <p:spPr>
          <a:xfrm>
            <a:off x="457200" y="1628800"/>
            <a:ext cx="8229600" cy="5112568"/>
          </a:xfrm>
        </p:spPr>
        <p:txBody>
          <a:bodyPr/>
          <a:lstStyle/>
          <a:p>
            <a:r>
              <a:rPr lang="en-US" sz="2000" b="1" dirty="0">
                <a:latin typeface="Times New Roman" panose="02020603050405020304" pitchFamily="18" charset="0"/>
                <a:cs typeface="Times New Roman" panose="02020603050405020304" pitchFamily="18" charset="0"/>
              </a:rPr>
              <a:t>Objective 2: Train the Model (XG Boost, DNN, and WOA)</a:t>
            </a:r>
          </a:p>
          <a:p>
            <a:pPr>
              <a:buFont typeface="+mj-lt"/>
              <a:buAutoNum type="arabicPeriod"/>
            </a:pPr>
            <a:r>
              <a:rPr lang="en-US" sz="2000" b="1" dirty="0">
                <a:latin typeface="Times New Roman" panose="02020603050405020304" pitchFamily="18" charset="0"/>
                <a:cs typeface="Times New Roman" panose="02020603050405020304" pitchFamily="18" charset="0"/>
              </a:rPr>
              <a:t>Train XG Boost</a:t>
            </a:r>
            <a:r>
              <a:rPr lang="en-US" sz="20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Import XG Boost libraries.</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Set up the model:</a:t>
            </a:r>
          </a:p>
          <a:p>
            <a:pPr marL="1143000" lvl="2" indent="-228600">
              <a:buFont typeface="+mj-lt"/>
              <a:buAutoNum type="arabicPeriod"/>
            </a:pPr>
            <a:r>
              <a:rPr lang="en-US" sz="2000" dirty="0">
                <a:latin typeface="Times New Roman" panose="02020603050405020304" pitchFamily="18" charset="0"/>
                <a:cs typeface="Times New Roman" panose="02020603050405020304" pitchFamily="18" charset="0"/>
              </a:rPr>
              <a:t>Define hyperparameters (learning rate, max depth, n-estimators, etc.).</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Train the model using the training dataset.</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Evaluate the model on the test set and record the performance metrics.</a:t>
            </a:r>
          </a:p>
          <a:p>
            <a:pPr>
              <a:buFont typeface="+mj-lt"/>
              <a:buAutoNum type="arabicPeriod"/>
            </a:pPr>
            <a:r>
              <a:rPr lang="en-US" sz="2000" b="1" dirty="0">
                <a:latin typeface="Times New Roman" panose="02020603050405020304" pitchFamily="18" charset="0"/>
                <a:cs typeface="Times New Roman" panose="02020603050405020304" pitchFamily="18" charset="0"/>
              </a:rPr>
              <a:t>Develop DNN Model</a:t>
            </a:r>
            <a:r>
              <a:rPr lang="en-US" sz="20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Import libraries like TensorFlow .</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Build the network:</a:t>
            </a:r>
          </a:p>
          <a:p>
            <a:pPr marL="1143000" lvl="2" indent="-228600">
              <a:buFont typeface="+mj-lt"/>
              <a:buAutoNum type="arabicPeriod"/>
            </a:pPr>
            <a:r>
              <a:rPr lang="en-US" sz="2000" dirty="0">
                <a:latin typeface="Times New Roman" panose="02020603050405020304" pitchFamily="18" charset="0"/>
                <a:cs typeface="Times New Roman" panose="02020603050405020304" pitchFamily="18" charset="0"/>
              </a:rPr>
              <a:t>Define input, hidden, and output layers</a:t>
            </a:r>
          </a:p>
          <a:p>
            <a:endParaRPr lang="en-US" sz="2000" dirty="0">
              <a:latin typeface="Times New Roman" panose="02020603050405020304" pitchFamily="18" charset="0"/>
              <a:cs typeface="Times New Roman" panose="02020603050405020304" pitchFamily="18" charset="0"/>
            </a:endParaRPr>
          </a:p>
        </p:txBody>
      </p:sp>
      <p:pic>
        <p:nvPicPr>
          <p:cNvPr id="6" name="Picture 2" descr="D:\GITAM-GST-CSE\2024-25\Capstone-Project\GITAM-newlogo.jpeg">
            <a:extLst>
              <a:ext uri="{FF2B5EF4-FFF2-40B4-BE49-F238E27FC236}">
                <a16:creationId xmlns:a16="http://schemas.microsoft.com/office/drawing/2014/main" id="{878B4EBB-8776-5DA4-333A-C1933CE46989}"/>
              </a:ext>
            </a:extLst>
          </p:cNvPr>
          <p:cNvPicPr>
            <a:picLocks noChangeAspect="1"/>
          </p:cNvPicPr>
          <p:nvPr/>
        </p:nvPicPr>
        <p:blipFill>
          <a:blip r:embed="rId2"/>
          <a:stretch>
            <a:fillRect/>
          </a:stretch>
        </p:blipFill>
        <p:spPr>
          <a:xfrm>
            <a:off x="6804025" y="0"/>
            <a:ext cx="2339975" cy="962025"/>
          </a:xfrm>
          <a:prstGeom prst="rect">
            <a:avLst/>
          </a:prstGeom>
          <a:noFill/>
          <a:ln w="9525">
            <a:noFill/>
          </a:ln>
        </p:spPr>
      </p:pic>
    </p:spTree>
    <p:extLst>
      <p:ext uri="{BB962C8B-B14F-4D97-AF65-F5344CB8AC3E}">
        <p14:creationId xmlns:p14="http://schemas.microsoft.com/office/powerpoint/2010/main" val="4053894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1B4E-FDEF-4DDE-04E9-4AF723B97EA6}"/>
              </a:ext>
            </a:extLst>
          </p:cNvPr>
          <p:cNvSpPr>
            <a:spLocks noGrp="1"/>
          </p:cNvSpPr>
          <p:nvPr>
            <p:ph type="title"/>
          </p:nvPr>
        </p:nvSpPr>
        <p:spPr/>
        <p:txBody>
          <a:bodyPr lIns="91440" tIns="45720" rIns="91440" bIns="45720" anchor="ctr" anchorCtr="0"/>
          <a:lstStyle/>
          <a:p>
            <a:r>
              <a:rPr lang="en-US" dirty="0">
                <a:ea typeface="Calibri"/>
                <a:cs typeface="Calibri"/>
              </a:rPr>
              <a:t>Implementation of </a:t>
            </a:r>
            <a:r>
              <a:rPr lang="en-US" dirty="0" err="1">
                <a:ea typeface="Calibri"/>
                <a:cs typeface="Calibri"/>
              </a:rPr>
              <a:t>XGBoost</a:t>
            </a:r>
            <a:endParaRPr lang="en-US" dirty="0" err="1"/>
          </a:p>
        </p:txBody>
      </p:sp>
      <p:pic>
        <p:nvPicPr>
          <p:cNvPr id="4" name="Content Placeholder 3" descr="A screenshot of a computer program&#10;&#10;Description automatically generated">
            <a:extLst>
              <a:ext uri="{FF2B5EF4-FFF2-40B4-BE49-F238E27FC236}">
                <a16:creationId xmlns:a16="http://schemas.microsoft.com/office/drawing/2014/main" id="{FCCDD5C6-7507-30A2-2AD8-F509AD4FC5B2}"/>
              </a:ext>
            </a:extLst>
          </p:cNvPr>
          <p:cNvPicPr>
            <a:picLocks noGrp="1" noChangeAspect="1"/>
          </p:cNvPicPr>
          <p:nvPr>
            <p:ph idx="1"/>
          </p:nvPr>
        </p:nvPicPr>
        <p:blipFill>
          <a:blip r:embed="rId2"/>
          <a:stretch>
            <a:fillRect/>
          </a:stretch>
        </p:blipFill>
        <p:spPr>
          <a:xfrm>
            <a:off x="681037" y="1610519"/>
            <a:ext cx="7781925" cy="4505325"/>
          </a:xfrm>
        </p:spPr>
      </p:pic>
    </p:spTree>
    <p:extLst>
      <p:ext uri="{BB962C8B-B14F-4D97-AF65-F5344CB8AC3E}">
        <p14:creationId xmlns:p14="http://schemas.microsoft.com/office/powerpoint/2010/main" val="1556848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ADFC-9DBC-76BE-3A35-66A539D33BC0}"/>
              </a:ext>
            </a:extLst>
          </p:cNvPr>
          <p:cNvSpPr>
            <a:spLocks noGrp="1"/>
          </p:cNvSpPr>
          <p:nvPr>
            <p:ph type="title"/>
          </p:nvPr>
        </p:nvSpPr>
        <p:spPr/>
        <p:txBody>
          <a:bodyPr lIns="91440" tIns="45720" rIns="91440" bIns="45720" anchor="ctr" anchorCtr="0"/>
          <a:lstStyle/>
          <a:p>
            <a:r>
              <a:rPr lang="en-US" dirty="0">
                <a:ea typeface="Calibri"/>
                <a:cs typeface="Calibri"/>
              </a:rPr>
              <a:t>Train the model</a:t>
            </a:r>
            <a:endParaRPr lang="en-US" dirty="0"/>
          </a:p>
        </p:txBody>
      </p:sp>
      <p:pic>
        <p:nvPicPr>
          <p:cNvPr id="4" name="Content Placeholder 3" descr="A screenshot of a computer program&#10;&#10;Description automatically generated">
            <a:extLst>
              <a:ext uri="{FF2B5EF4-FFF2-40B4-BE49-F238E27FC236}">
                <a16:creationId xmlns:a16="http://schemas.microsoft.com/office/drawing/2014/main" id="{C7EF0EAD-AD1B-7858-B3A5-8B909AE934D9}"/>
              </a:ext>
            </a:extLst>
          </p:cNvPr>
          <p:cNvPicPr>
            <a:picLocks noGrp="1" noChangeAspect="1"/>
          </p:cNvPicPr>
          <p:nvPr>
            <p:ph idx="1"/>
          </p:nvPr>
        </p:nvPicPr>
        <p:blipFill>
          <a:blip r:embed="rId2"/>
          <a:stretch>
            <a:fillRect/>
          </a:stretch>
        </p:blipFill>
        <p:spPr>
          <a:xfrm>
            <a:off x="800190" y="1715204"/>
            <a:ext cx="7572374" cy="4281577"/>
          </a:xfrm>
        </p:spPr>
      </p:pic>
    </p:spTree>
    <p:extLst>
      <p:ext uri="{BB962C8B-B14F-4D97-AF65-F5344CB8AC3E}">
        <p14:creationId xmlns:p14="http://schemas.microsoft.com/office/powerpoint/2010/main" val="2874288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1120-714E-934A-48AC-DEA168E14D80}"/>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Develop DNN Model</a:t>
            </a:r>
            <a:r>
              <a:rPr lang="en-US" sz="4400" dirty="0">
                <a:latin typeface="Times New Roman" panose="02020603050405020304" pitchFamily="18" charset="0"/>
                <a:cs typeface="Times New Roman" panose="02020603050405020304" pitchFamily="18" charset="0"/>
              </a:rPr>
              <a:t>:</a:t>
            </a:r>
            <a:br>
              <a:rPr lang="en-US" sz="4400" dirty="0">
                <a:latin typeface="Times New Roman" panose="02020603050405020304" pitchFamily="18" charset="0"/>
                <a:cs typeface="Times New Roman" panose="02020603050405020304" pitchFamily="18" charset="0"/>
              </a:rPr>
            </a:br>
            <a:endParaRPr lang="en-US" dirty="0"/>
          </a:p>
        </p:txBody>
      </p:sp>
      <p:pic>
        <p:nvPicPr>
          <p:cNvPr id="5" name="Picture 4">
            <a:extLst>
              <a:ext uri="{FF2B5EF4-FFF2-40B4-BE49-F238E27FC236}">
                <a16:creationId xmlns:a16="http://schemas.microsoft.com/office/drawing/2014/main" id="{F3907D13-C7C8-B770-F2EA-36D8C802A628}"/>
              </a:ext>
            </a:extLst>
          </p:cNvPr>
          <p:cNvPicPr>
            <a:picLocks noChangeAspect="1"/>
          </p:cNvPicPr>
          <p:nvPr/>
        </p:nvPicPr>
        <p:blipFill>
          <a:blip r:embed="rId2"/>
          <a:stretch>
            <a:fillRect/>
          </a:stretch>
        </p:blipFill>
        <p:spPr>
          <a:xfrm>
            <a:off x="0" y="1644543"/>
            <a:ext cx="9144000" cy="4681306"/>
          </a:xfrm>
          <a:prstGeom prst="rect">
            <a:avLst/>
          </a:prstGeom>
        </p:spPr>
      </p:pic>
    </p:spTree>
    <p:extLst>
      <p:ext uri="{BB962C8B-B14F-4D97-AF65-F5344CB8AC3E}">
        <p14:creationId xmlns:p14="http://schemas.microsoft.com/office/powerpoint/2010/main" val="4184245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87DD-0F8E-ACB3-95F4-ADF2824EAA18}"/>
              </a:ext>
            </a:extLst>
          </p:cNvPr>
          <p:cNvSpPr>
            <a:spLocks noGrp="1"/>
          </p:cNvSpPr>
          <p:nvPr>
            <p:ph type="title"/>
          </p:nvPr>
        </p:nvSpPr>
        <p:spPr/>
        <p:txBody>
          <a:bodyPr/>
          <a:lstStyle/>
          <a:p>
            <a:r>
              <a:rPr lang="en-US" dirty="0"/>
              <a:t>Train DNN Model </a:t>
            </a:r>
          </a:p>
        </p:txBody>
      </p:sp>
      <p:pic>
        <p:nvPicPr>
          <p:cNvPr id="5" name="Picture 4">
            <a:extLst>
              <a:ext uri="{FF2B5EF4-FFF2-40B4-BE49-F238E27FC236}">
                <a16:creationId xmlns:a16="http://schemas.microsoft.com/office/drawing/2014/main" id="{F2D5CC50-9A6C-42C7-28E7-293344CD0D8E}"/>
              </a:ext>
            </a:extLst>
          </p:cNvPr>
          <p:cNvPicPr>
            <a:picLocks noChangeAspect="1"/>
          </p:cNvPicPr>
          <p:nvPr/>
        </p:nvPicPr>
        <p:blipFill>
          <a:blip r:embed="rId2"/>
          <a:stretch>
            <a:fillRect/>
          </a:stretch>
        </p:blipFill>
        <p:spPr>
          <a:xfrm>
            <a:off x="0" y="1558978"/>
            <a:ext cx="9144000" cy="5024384"/>
          </a:xfrm>
          <a:prstGeom prst="rect">
            <a:avLst/>
          </a:prstGeom>
        </p:spPr>
      </p:pic>
    </p:spTree>
    <p:extLst>
      <p:ext uri="{BB962C8B-B14F-4D97-AF65-F5344CB8AC3E}">
        <p14:creationId xmlns:p14="http://schemas.microsoft.com/office/powerpoint/2010/main" val="3732906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62B1-CA4F-9C27-5BF0-BE32A8DDB56D}"/>
              </a:ext>
            </a:extLst>
          </p:cNvPr>
          <p:cNvSpPr>
            <a:spLocks noGrp="1"/>
          </p:cNvSpPr>
          <p:nvPr>
            <p:ph type="title"/>
          </p:nvPr>
        </p:nvSpPr>
        <p:spPr/>
        <p:txBody>
          <a:bodyPr lIns="91440" tIns="45720" rIns="91440" bIns="45720" anchor="ctr" anchorCtr="0"/>
          <a:lstStyle/>
          <a:p>
            <a:r>
              <a:rPr lang="en-US" dirty="0">
                <a:ea typeface="Calibri"/>
                <a:cs typeface="Calibri"/>
              </a:rPr>
              <a:t>Whale Optimization Algorithm</a:t>
            </a:r>
            <a:endParaRPr lang="en-US" dirty="0"/>
          </a:p>
        </p:txBody>
      </p:sp>
      <p:pic>
        <p:nvPicPr>
          <p:cNvPr id="4" name="Content Placeholder 3" descr="A screenshot of a computer code&#10;&#10;Description automatically generated">
            <a:extLst>
              <a:ext uri="{FF2B5EF4-FFF2-40B4-BE49-F238E27FC236}">
                <a16:creationId xmlns:a16="http://schemas.microsoft.com/office/drawing/2014/main" id="{96AD518A-819B-B25B-BBE3-A3CFC5C9C0E6}"/>
              </a:ext>
            </a:extLst>
          </p:cNvPr>
          <p:cNvPicPr>
            <a:picLocks noGrp="1" noChangeAspect="1"/>
          </p:cNvPicPr>
          <p:nvPr>
            <p:ph idx="1"/>
          </p:nvPr>
        </p:nvPicPr>
        <p:blipFill>
          <a:blip r:embed="rId2"/>
          <a:stretch>
            <a:fillRect/>
          </a:stretch>
        </p:blipFill>
        <p:spPr>
          <a:xfrm>
            <a:off x="457200" y="1886585"/>
            <a:ext cx="8229600" cy="3953192"/>
          </a:xfrm>
        </p:spPr>
      </p:pic>
    </p:spTree>
    <p:extLst>
      <p:ext uri="{BB962C8B-B14F-4D97-AF65-F5344CB8AC3E}">
        <p14:creationId xmlns:p14="http://schemas.microsoft.com/office/powerpoint/2010/main" val="4144120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B84A-A279-2C73-9F42-CFCB60E068A8}"/>
              </a:ext>
            </a:extLst>
          </p:cNvPr>
          <p:cNvSpPr>
            <a:spLocks noGrp="1"/>
          </p:cNvSpPr>
          <p:nvPr>
            <p:ph type="title"/>
          </p:nvPr>
        </p:nvSpPr>
        <p:spPr/>
        <p:txBody>
          <a:bodyPr lIns="91440" tIns="45720" rIns="91440" bIns="45720" anchor="ctr" anchorCtr="0"/>
          <a:lstStyle/>
          <a:p>
            <a:r>
              <a:rPr lang="en-US" dirty="0">
                <a:ea typeface="Calibri"/>
                <a:cs typeface="Calibri"/>
              </a:rPr>
              <a:t>Implementation of WOA</a:t>
            </a:r>
            <a:endParaRPr lang="en-US" dirty="0"/>
          </a:p>
        </p:txBody>
      </p:sp>
      <p:pic>
        <p:nvPicPr>
          <p:cNvPr id="4" name="Content Placeholder 3" descr="A computer screen shot of text&#10;&#10;Description automatically generated">
            <a:extLst>
              <a:ext uri="{FF2B5EF4-FFF2-40B4-BE49-F238E27FC236}">
                <a16:creationId xmlns:a16="http://schemas.microsoft.com/office/drawing/2014/main" id="{3DEAFB37-FAC6-EE8B-9EB8-4B3C73D06DFA}"/>
              </a:ext>
            </a:extLst>
          </p:cNvPr>
          <p:cNvPicPr>
            <a:picLocks noGrp="1" noChangeAspect="1"/>
          </p:cNvPicPr>
          <p:nvPr>
            <p:ph idx="1"/>
          </p:nvPr>
        </p:nvPicPr>
        <p:blipFill>
          <a:blip r:embed="rId2"/>
          <a:stretch>
            <a:fillRect/>
          </a:stretch>
        </p:blipFill>
        <p:spPr>
          <a:xfrm>
            <a:off x="456661" y="1889889"/>
            <a:ext cx="8230678" cy="3313980"/>
          </a:xfrm>
        </p:spPr>
      </p:pic>
    </p:spTree>
    <p:extLst>
      <p:ext uri="{BB962C8B-B14F-4D97-AF65-F5344CB8AC3E}">
        <p14:creationId xmlns:p14="http://schemas.microsoft.com/office/powerpoint/2010/main" val="4291795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4E271A91-BC0C-5E86-5335-6E6E0A2387C7}"/>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eaLnBrk="1" hangingPunct="1">
              <a:lnSpc>
                <a:spcPct val="90000"/>
              </a:lnSpc>
            </a:pPr>
            <a:r>
              <a:rPr lang="en-US" sz="2800" dirty="0">
                <a:solidFill>
                  <a:schemeClr val="bg1"/>
                </a:solidFill>
                <a:ea typeface="Calibri"/>
                <a:cs typeface="Calibri"/>
              </a:rPr>
              <a:t>Confusion matrix</a:t>
            </a:r>
            <a:endParaRPr lang="en-US" sz="2800" kern="1200" dirty="0">
              <a:solidFill>
                <a:schemeClr val="bg1"/>
              </a:solidFill>
              <a:latin typeface="+mj-lt"/>
              <a:ea typeface="+mj-ea"/>
              <a:cs typeface="+mj-cs"/>
            </a:endParaRPr>
          </a:p>
        </p:txBody>
      </p:sp>
      <p:pic>
        <p:nvPicPr>
          <p:cNvPr id="4" name="Content Placeholder 3">
            <a:extLst>
              <a:ext uri="{FF2B5EF4-FFF2-40B4-BE49-F238E27FC236}">
                <a16:creationId xmlns:a16="http://schemas.microsoft.com/office/drawing/2014/main" id="{07CC2F9B-BBC0-5887-F214-EA84353ECB53}"/>
              </a:ext>
            </a:extLst>
          </p:cNvPr>
          <p:cNvPicPr>
            <a:picLocks noGrp="1" noChangeAspect="1"/>
          </p:cNvPicPr>
          <p:nvPr>
            <p:ph idx="1"/>
          </p:nvPr>
        </p:nvPicPr>
        <p:blipFill>
          <a:blip r:embed="rId2"/>
          <a:stretch>
            <a:fillRect/>
          </a:stretch>
        </p:blipFill>
        <p:spPr>
          <a:xfrm>
            <a:off x="1268091" y="1675227"/>
            <a:ext cx="6607817" cy="4394199"/>
          </a:xfrm>
          <a:prstGeom prst="rect">
            <a:avLst/>
          </a:prstGeom>
        </p:spPr>
      </p:pic>
    </p:spTree>
    <p:extLst>
      <p:ext uri="{BB962C8B-B14F-4D97-AF65-F5344CB8AC3E}">
        <p14:creationId xmlns:p14="http://schemas.microsoft.com/office/powerpoint/2010/main" val="1168262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CCA40-2F3E-A263-A5D5-3CAD5E714ECA}"/>
              </a:ext>
            </a:extLst>
          </p:cNvPr>
          <p:cNvSpPr>
            <a:spLocks noGrp="1"/>
          </p:cNvSpPr>
          <p:nvPr>
            <p:ph type="title"/>
          </p:nvPr>
        </p:nvSpPr>
        <p:spPr/>
        <p:txBody>
          <a:bodyPr/>
          <a:lstStyle/>
          <a:p>
            <a:r>
              <a:rPr lang="en-US"/>
              <a:t>SAMPLE USER INTERFACE</a:t>
            </a:r>
            <a:endParaRPr lang="en-IN"/>
          </a:p>
        </p:txBody>
      </p:sp>
      <p:pic>
        <p:nvPicPr>
          <p:cNvPr id="5" name="Content Placeholder 4">
            <a:extLst>
              <a:ext uri="{FF2B5EF4-FFF2-40B4-BE49-F238E27FC236}">
                <a16:creationId xmlns:a16="http://schemas.microsoft.com/office/drawing/2014/main" id="{ABC114FC-2860-609F-DDF2-5B90495FDEED}"/>
              </a:ext>
            </a:extLst>
          </p:cNvPr>
          <p:cNvPicPr>
            <a:picLocks noGrp="1" noChangeAspect="1"/>
          </p:cNvPicPr>
          <p:nvPr>
            <p:ph idx="1"/>
          </p:nvPr>
        </p:nvPicPr>
        <p:blipFill>
          <a:blip r:embed="rId2"/>
          <a:stretch>
            <a:fillRect/>
          </a:stretch>
        </p:blipFill>
        <p:spPr>
          <a:xfrm>
            <a:off x="107504" y="1417638"/>
            <a:ext cx="8928992" cy="5035697"/>
          </a:xfrm>
        </p:spPr>
      </p:pic>
    </p:spTree>
    <p:extLst>
      <p:ext uri="{BB962C8B-B14F-4D97-AF65-F5344CB8AC3E}">
        <p14:creationId xmlns:p14="http://schemas.microsoft.com/office/powerpoint/2010/main" val="2010956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630" y="188278"/>
            <a:ext cx="8229600" cy="1143000"/>
          </a:xfrm>
        </p:spPr>
        <p:txBody>
          <a:bodyPr/>
          <a:lstStyle/>
          <a:p>
            <a:r>
              <a:rPr lang="en-IN" altLang="en-US" sz="4000" b="1">
                <a:latin typeface="Times New Roman" panose="02020603050405020304" pitchFamily="18" charset="0"/>
                <a:cs typeface="Times New Roman" panose="02020603050405020304" pitchFamily="18" charset="0"/>
                <a:sym typeface="+mn-ea"/>
              </a:rPr>
              <a:t>Status of Implementation</a:t>
            </a:r>
            <a:endParaRPr lang="en-US" sz="4000"/>
          </a:p>
        </p:txBody>
      </p:sp>
      <p:sp>
        <p:nvSpPr>
          <p:cNvPr id="11" name="Text Box 10"/>
          <p:cNvSpPr txBox="1"/>
          <p:nvPr/>
        </p:nvSpPr>
        <p:spPr>
          <a:xfrm>
            <a:off x="2771775" y="6021070"/>
            <a:ext cx="3594735" cy="368300"/>
          </a:xfrm>
          <a:prstGeom prst="rect">
            <a:avLst/>
          </a:prstGeom>
          <a:noFill/>
        </p:spPr>
        <p:txBody>
          <a:bodyPr wrap="square" rtlCol="0">
            <a:spAutoFit/>
          </a:bodyPr>
          <a:lstStyle/>
          <a:p>
            <a:r>
              <a:rPr lang="en-IN" altLang="en-US"/>
              <a:t>Accuracy and Classification report</a:t>
            </a:r>
          </a:p>
        </p:txBody>
      </p:sp>
      <p:pic>
        <p:nvPicPr>
          <p:cNvPr id="12" name="Picture 2" descr="D:\GITAM-GST-CSE\2024-25\Capstone-Project\GITAM-newlogo.jpeg"/>
          <p:cNvPicPr>
            <a:picLocks noGrp="1" noChangeAspect="1"/>
          </p:cNvPicPr>
          <p:nvPr>
            <p:ph sz="half" idx="1"/>
          </p:nvPr>
        </p:nvPicPr>
        <p:blipFill>
          <a:blip r:embed="rId2"/>
          <a:stretch>
            <a:fillRect/>
          </a:stretch>
        </p:blipFill>
        <p:spPr>
          <a:xfrm>
            <a:off x="6538595" y="0"/>
            <a:ext cx="2599690" cy="1012190"/>
          </a:xfrm>
          <a:prstGeom prst="rect">
            <a:avLst/>
          </a:prstGeom>
          <a:noFill/>
          <a:ln w="9525">
            <a:noFill/>
          </a:ln>
        </p:spPr>
      </p:pic>
      <p:pic>
        <p:nvPicPr>
          <p:cNvPr id="13" name="Picture 2" descr="D:\GITAM-GST-CSE\2024-25\Capstone-Project\GITAM-newlogo.jpeg"/>
          <p:cNvPicPr>
            <a:picLocks noChangeAspect="1"/>
          </p:cNvPicPr>
          <p:nvPr/>
        </p:nvPicPr>
        <p:blipFill>
          <a:blip r:embed="rId2"/>
          <a:stretch>
            <a:fillRect/>
          </a:stretch>
        </p:blipFill>
        <p:spPr>
          <a:xfrm>
            <a:off x="6372225" y="0"/>
            <a:ext cx="2766060" cy="1038225"/>
          </a:xfrm>
          <a:prstGeom prst="rect">
            <a:avLst/>
          </a:prstGeom>
          <a:noFill/>
          <a:ln w="9525">
            <a:noFill/>
          </a:ln>
        </p:spPr>
      </p:pic>
      <p:pic>
        <p:nvPicPr>
          <p:cNvPr id="8" name="Picture 7">
            <a:extLst>
              <a:ext uri="{FF2B5EF4-FFF2-40B4-BE49-F238E27FC236}">
                <a16:creationId xmlns:a16="http://schemas.microsoft.com/office/drawing/2014/main" id="{D463AFAA-7A61-1166-6460-A04D2D1B5A23}"/>
              </a:ext>
            </a:extLst>
          </p:cNvPr>
          <p:cNvPicPr>
            <a:picLocks noChangeAspect="1"/>
          </p:cNvPicPr>
          <p:nvPr/>
        </p:nvPicPr>
        <p:blipFill>
          <a:blip r:embed="rId3"/>
          <a:stretch>
            <a:fillRect/>
          </a:stretch>
        </p:blipFill>
        <p:spPr>
          <a:xfrm>
            <a:off x="0" y="1607087"/>
            <a:ext cx="9158111" cy="369412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55650" y="188278"/>
            <a:ext cx="8229600" cy="950277"/>
          </a:xfrm>
        </p:spPr>
        <p:txBody>
          <a:bodyPr/>
          <a:lstStyle/>
          <a:p>
            <a:pPr algn="ctr"/>
            <a:r>
              <a:rPr lang="en-IN" altLang="en-US" sz="4000" b="1">
                <a:latin typeface="Times New Roman" panose="02020603050405020304" pitchFamily="18" charset="0"/>
                <a:cs typeface="Times New Roman" panose="02020603050405020304" pitchFamily="18" charset="0"/>
                <a:sym typeface="+mn-ea"/>
              </a:rPr>
              <a:t>Status of Implementation</a:t>
            </a:r>
            <a:endParaRPr lang="en-US" sz="4000" b="1">
              <a:latin typeface="Times New Roman" panose="02020603050405020304" pitchFamily="18" charset="0"/>
              <a:cs typeface="Times New Roman" panose="02020603050405020304" pitchFamily="18" charset="0"/>
            </a:endParaRPr>
          </a:p>
        </p:txBody>
      </p:sp>
      <p:pic>
        <p:nvPicPr>
          <p:cNvPr id="35846" name="Picture 2" descr="D:\GITAM-GST-CSE\2024-25\Capstone-Project\GITAM-newlogo.jpeg"/>
          <p:cNvPicPr>
            <a:picLocks noGrp="1" noChangeAspect="1"/>
          </p:cNvPicPr>
          <p:nvPr>
            <p:ph sz="half" idx="1"/>
          </p:nvPr>
        </p:nvPicPr>
        <p:blipFill>
          <a:blip r:embed="rId2"/>
          <a:stretch>
            <a:fillRect/>
          </a:stretch>
        </p:blipFill>
        <p:spPr>
          <a:xfrm>
            <a:off x="6443980" y="44450"/>
            <a:ext cx="2660015" cy="1094105"/>
          </a:xfrm>
          <a:prstGeom prst="rect">
            <a:avLst/>
          </a:prstGeom>
          <a:noFill/>
          <a:ln w="9525">
            <a:noFill/>
          </a:ln>
        </p:spPr>
      </p:pic>
      <p:sp>
        <p:nvSpPr>
          <p:cNvPr id="8" name="Text Box 7"/>
          <p:cNvSpPr txBox="1"/>
          <p:nvPr/>
        </p:nvSpPr>
        <p:spPr>
          <a:xfrm>
            <a:off x="3048000" y="6388833"/>
            <a:ext cx="3048000" cy="400110"/>
          </a:xfrm>
          <a:prstGeom prst="rect">
            <a:avLst/>
          </a:prstGeom>
          <a:noFill/>
        </p:spPr>
        <p:txBody>
          <a:bodyPr wrap="square" rtlCol="0">
            <a:spAutoFit/>
          </a:bodyPr>
          <a:lstStyle/>
          <a:p>
            <a:r>
              <a:rPr lang="en-IN" altLang="en-US" sz="2000">
                <a:latin typeface="Times New Roman" panose="02020603050405020304" pitchFamily="18" charset="0"/>
                <a:cs typeface="Times New Roman" panose="02020603050405020304" pitchFamily="18" charset="0"/>
              </a:rPr>
              <a:t>Fraud Probability Plotting</a:t>
            </a:r>
          </a:p>
        </p:txBody>
      </p:sp>
      <p:pic>
        <p:nvPicPr>
          <p:cNvPr id="6" name="Picture 5">
            <a:extLst>
              <a:ext uri="{FF2B5EF4-FFF2-40B4-BE49-F238E27FC236}">
                <a16:creationId xmlns:a16="http://schemas.microsoft.com/office/drawing/2014/main" id="{BF7432D3-47B9-E9B7-BA85-B0250E9A5A81}"/>
              </a:ext>
            </a:extLst>
          </p:cNvPr>
          <p:cNvPicPr>
            <a:picLocks noChangeAspect="1"/>
          </p:cNvPicPr>
          <p:nvPr/>
        </p:nvPicPr>
        <p:blipFill>
          <a:blip r:embed="rId3"/>
          <a:stretch>
            <a:fillRect/>
          </a:stretch>
        </p:blipFill>
        <p:spPr>
          <a:xfrm>
            <a:off x="457201" y="1114102"/>
            <a:ext cx="8435280" cy="476831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Gantt Chart</a:t>
            </a:r>
            <a:endPar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rPr>
              <a:t>References</a:t>
            </a:r>
            <a:endParaRPr kumimoji="0" lang="en-IN" sz="2000" b="0" i="0" u="none" strike="noStrike" kern="1200" cap="none" spc="0" normalizeH="0" baseline="0" noProof="0">
              <a:ln>
                <a:noFill/>
              </a:ln>
              <a:solidFill>
                <a:schemeClr val="accent3"/>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6868"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52</a:t>
            </a:fld>
            <a:endParaRPr lang="en-US" altLang="en-US" sz="1200">
              <a:solidFill>
                <a:srgbClr val="898989"/>
              </a:solidFill>
              <a:ea typeface="Arial" panose="020B0604020202020204" pitchFamily="34" charset="0"/>
              <a:cs typeface="Arial" panose="020B0604020202020204" pitchFamily="34" charset="0"/>
            </a:endParaRPr>
          </a:p>
        </p:txBody>
      </p:sp>
      <p:pic>
        <p:nvPicPr>
          <p:cNvPr id="36869"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23850" y="476250"/>
            <a:ext cx="8229600" cy="1143000"/>
          </a:xfrm>
        </p:spPr>
        <p:txBody>
          <a:bodyPr vert="horz" wrap="square" lIns="91440" tIns="45720" rIns="91440" bIns="45720" anchor="ctr" anchorCtr="0"/>
          <a:lstStyle/>
          <a:p>
            <a:r>
              <a:rPr lang="en-IN" altLang="en-US" b="1">
                <a:latin typeface="Times New Roman" panose="02020603050405020304" pitchFamily="18" charset="0"/>
                <a:cs typeface="Times New Roman" panose="02020603050405020304" pitchFamily="18" charset="0"/>
              </a:rPr>
              <a:t>Conclusion</a:t>
            </a:r>
            <a:endParaRPr lang="en-IN" altLang="en-US" b="1">
              <a:latin typeface="Times New Roman" panose="02020603050405020304" pitchFamily="18" charset="0"/>
              <a:ea typeface="Times New Roman" panose="02020603050405020304" pitchFamily="18" charset="0"/>
            </a:endParaRPr>
          </a:p>
        </p:txBody>
      </p:sp>
      <p:sp>
        <p:nvSpPr>
          <p:cNvPr id="37891" name="Content Placeholder 2"/>
          <p:cNvSpPr>
            <a:spLocks noGrp="1"/>
          </p:cNvSpPr>
          <p:nvPr>
            <p:ph idx="1"/>
          </p:nvPr>
        </p:nvSpPr>
        <p:spPr>
          <a:xfrm>
            <a:off x="457200" y="2105025"/>
            <a:ext cx="8229600" cy="2403475"/>
          </a:xfrm>
        </p:spPr>
        <p:txBody>
          <a:bodyPr vert="horz" wrap="square" lIns="91440" tIns="45720" rIns="91440" bIns="45720" anchor="t" anchorCtr="0"/>
          <a:lstStyle/>
          <a:p>
            <a:pPr algn="just">
              <a:spcBef>
                <a:spcPct val="0"/>
              </a:spcBef>
              <a:buNone/>
            </a:pPr>
            <a:r>
              <a:rPr lang="en-US" altLang="en-US" sz="2000">
                <a:solidFill>
                  <a:srgbClr val="000000"/>
                </a:solidFill>
                <a:latin typeface="Times New Roman"/>
                <a:cs typeface="Times New Roman"/>
              </a:rPr>
              <a:t>    </a:t>
            </a:r>
            <a:r>
              <a:rPr lang="en-US" altLang="en-US" sz="2000">
                <a:solidFill>
                  <a:srgbClr val="000000"/>
                </a:solidFill>
                <a:latin typeface="Times New Roman"/>
                <a:cs typeface="Times New Roman"/>
                <a:sym typeface="+mn-ea"/>
              </a:rPr>
              <a:t>In this project, we developed a hybrid model for fraud detection in UPI (Unified Payments Interface) transactions using a combination of XG Boost, Deep Neural Networks (DNN), and the Whale Optimization Algorithm (WOA). The goal was to improve the accuracy and efficiency of fraud detection in online payments, particularly focusing on UPI, which has become one of the most widely used digital payment systems in India. </a:t>
            </a:r>
            <a:endParaRPr lang="en-US" altLang="en-US" sz="2000" b="1" i="1" u="sng">
              <a:latin typeface="Times New Roman"/>
              <a:ea typeface="Times New Roman" panose="02020603050405020304" pitchFamily="18" charset="0"/>
              <a:cs typeface="Times New Roman"/>
            </a:endParaRPr>
          </a:p>
          <a:p>
            <a:pPr algn="just">
              <a:spcBef>
                <a:spcPct val="0"/>
              </a:spcBef>
              <a:buNone/>
            </a:pPr>
            <a:endParaRPr lang="en-US" altLang="en-US" sz="2000">
              <a:latin typeface="Times New Roman" panose="02020603050405020304" pitchFamily="18" charset="0"/>
              <a:cs typeface="Times New Roman" panose="02020603050405020304" pitchFamily="18" charset="0"/>
            </a:endParaRPr>
          </a:p>
          <a:p>
            <a:pPr algn="just"/>
            <a:endParaRPr lang="en-IN" altLang="en-US" sz="2000"/>
          </a:p>
        </p:txBody>
      </p:sp>
      <p:sp>
        <p:nvSpPr>
          <p:cNvPr id="37892" name="Slide Number Placeholder 3"/>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IN" altLang="en-US" sz="1200" dirty="0">
                <a:solidFill>
                  <a:srgbClr val="898989"/>
                </a:solidFill>
                <a:cs typeface="Arial" panose="020B0604020202020204" pitchFamily="34" charset="0"/>
              </a:rPr>
              <a:t>53</a:t>
            </a:fld>
            <a:endParaRPr lang="en-IN" altLang="en-US" sz="1200">
              <a:solidFill>
                <a:srgbClr val="898989"/>
              </a:solidFill>
              <a:ea typeface="Arial" panose="020B0604020202020204" pitchFamily="34" charset="0"/>
              <a:cs typeface="Arial" panose="020B0604020202020204" pitchFamily="34" charset="0"/>
            </a:endParaRPr>
          </a:p>
        </p:txBody>
      </p:sp>
      <p:pic>
        <p:nvPicPr>
          <p:cNvPr id="37893" name="Picture 1"/>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E43DC-7261-FC30-FDDC-4A15DDB9F2F6}"/>
              </a:ext>
            </a:extLst>
          </p:cNvPr>
          <p:cNvSpPr>
            <a:spLocks noGrp="1"/>
          </p:cNvSpPr>
          <p:nvPr>
            <p:ph type="title"/>
          </p:nvPr>
        </p:nvSpPr>
        <p:spPr>
          <a:xfrm>
            <a:off x="457200" y="274638"/>
            <a:ext cx="7907311" cy="729703"/>
          </a:xfrm>
        </p:spPr>
        <p:txBody>
          <a:bodyPr/>
          <a:lstStyle/>
          <a:p>
            <a:r>
              <a:rPr lang="en-US" dirty="0"/>
              <a:t>Gantt Chart</a:t>
            </a:r>
          </a:p>
        </p:txBody>
      </p:sp>
      <p:pic>
        <p:nvPicPr>
          <p:cNvPr id="6148" name="Picture 4" descr="Output image">
            <a:extLst>
              <a:ext uri="{FF2B5EF4-FFF2-40B4-BE49-F238E27FC236}">
                <a16:creationId xmlns:a16="http://schemas.microsoft.com/office/drawing/2014/main" id="{E5FEC607-41F1-4BCB-9FC5-476A98F0D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1" y="1205277"/>
            <a:ext cx="9039069" cy="5652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1243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68313" y="538163"/>
            <a:ext cx="5276850" cy="885825"/>
          </a:xfrm>
        </p:spPr>
        <p:txBody>
          <a:bodyPr vert="horz" wrap="square" lIns="91440" tIns="45720" rIns="91440" bIns="45720" anchor="ctr" anchorCtr="0"/>
          <a:lstStyle/>
          <a:p>
            <a:pPr algn="just" eaLnBrk="1" hangingPunct="1"/>
            <a:r>
              <a:rPr lang="en-IN" altLang="en-US" sz="2800" b="1">
                <a:solidFill>
                  <a:srgbClr val="FF0000"/>
                </a:solidFill>
                <a:latin typeface="Times New Roman" panose="02020603050405020304" pitchFamily="18" charset="0"/>
                <a:cs typeface="Times New Roman" panose="02020603050405020304" pitchFamily="18" charset="0"/>
              </a:rPr>
              <a:t>CONTENTS</a:t>
            </a:r>
            <a:endParaRPr lang="en-IN" altLang="en-US" sz="2800" b="1">
              <a:solidFill>
                <a:srgbClr val="FF0000"/>
              </a:solidFill>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755650" y="1417638"/>
            <a:ext cx="7931150" cy="4459288"/>
          </a:xfrm>
        </p:spPr>
        <p:txBody>
          <a:bodyPr vert="horz" wrap="square" lIns="91440" tIns="45720" rIns="91440" bIns="45720" numCol="1" rtlCol="0" anchor="t" anchorCtr="0" compatLnSpc="1">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Abstract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Literature Survey</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Problem Statement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Requirement Analysis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Identification of tools/technology/algorithms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Final Design Strategy (project workflow/ system design/ DFD/UML design)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Status of Implementation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Conclusion</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Gantt Chart</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References</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defRPr/>
            </a:pPr>
            <a:endParaRPr kumimoji="0" lang="en-IN" sz="2000" b="1"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defRPr/>
            </a:pPr>
            <a:endParaRPr kumimoji="0" lang="en-IN" sz="20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Slide Number Placeholder 1"/>
          <p:cNvSpPr txBox="1">
            <a:spLocks noGrp="1"/>
          </p:cNvSpPr>
          <p:nvPr>
            <p:ph type="sldNum" sz="quarter" idx="12"/>
          </p:nvPr>
        </p:nvSpPr>
        <p:spPr>
          <a:noFill/>
          <a:ln>
            <a:noFill/>
          </a:ln>
        </p:spPr>
        <p:txBody>
          <a:bodyPr anchor="ctr" anchorCtr="0"/>
          <a:lstStyle/>
          <a:p>
            <a:pPr marL="0" indent="0" algn="r" eaLnBrk="1" hangingPunct="1">
              <a:spcBef>
                <a:spcPct val="0"/>
              </a:spcBef>
              <a:buFontTx/>
              <a:buNone/>
            </a:pPr>
            <a:fld id="{9A0DB2DC-4C9A-4742-B13C-FB6460FD3503}" type="slidenum">
              <a:rPr lang="en-US" altLang="en-US" sz="1200" dirty="0">
                <a:solidFill>
                  <a:srgbClr val="898989"/>
                </a:solidFill>
                <a:cs typeface="Arial" panose="020B0604020202020204" pitchFamily="34" charset="0"/>
              </a:rPr>
              <a:t>55</a:t>
            </a:fld>
            <a:endParaRPr lang="en-US" altLang="en-US" sz="1200">
              <a:solidFill>
                <a:srgbClr val="898989"/>
              </a:solidFill>
              <a:ea typeface="Arial" panose="020B0604020202020204" pitchFamily="34" charset="0"/>
              <a:cs typeface="Arial" panose="020B0604020202020204" pitchFamily="34" charset="0"/>
            </a:endParaRPr>
          </a:p>
        </p:txBody>
      </p:sp>
      <p:pic>
        <p:nvPicPr>
          <p:cNvPr id="40965"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D:\GITAM-GST-CSE\2024-25\Capstone-Project\GITAM-newlogo.jpeg"/>
          <p:cNvPicPr>
            <a:picLocks noChangeAspect="1"/>
          </p:cNvPicPr>
          <p:nvPr/>
        </p:nvPicPr>
        <p:blipFill>
          <a:blip r:embed="rId2"/>
          <a:stretch>
            <a:fillRect/>
          </a:stretch>
        </p:blipFill>
        <p:spPr>
          <a:xfrm>
            <a:off x="6804025" y="19050"/>
            <a:ext cx="2339975" cy="962025"/>
          </a:xfrm>
          <a:prstGeom prst="rect">
            <a:avLst/>
          </a:prstGeom>
          <a:noFill/>
          <a:ln w="9525">
            <a:noFill/>
          </a:ln>
        </p:spPr>
      </p:pic>
      <p:sp>
        <p:nvSpPr>
          <p:cNvPr id="41987" name="Rectangle 2"/>
          <p:cNvSpPr/>
          <p:nvPr/>
        </p:nvSpPr>
        <p:spPr>
          <a:xfrm>
            <a:off x="50165" y="620395"/>
            <a:ext cx="9045575" cy="60623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73025" lvl="0" indent="0">
              <a:buNone/>
            </a:pPr>
            <a:r>
              <a:rPr lang="en-US" altLang="en-US" sz="2000" b="1" i="1" u="sng">
                <a:latin typeface="Times New Roman" panose="02020603050405020304" pitchFamily="18" charset="0"/>
                <a:cs typeface="Times New Roman" panose="02020603050405020304" pitchFamily="18" charset="0"/>
              </a:rPr>
              <a:t>Journals</a:t>
            </a:r>
          </a:p>
          <a:p>
            <a:pPr marL="73025" lvl="0" indent="0">
              <a:buNone/>
            </a:pPr>
            <a:endParaRPr lang="en-US" altLang="en-US" sz="2000" b="1" i="1" u="sng">
              <a:latin typeface="Times New Roman" panose="02020603050405020304" pitchFamily="18" charset="0"/>
              <a:cs typeface="Times New Roman" panose="02020603050405020304" pitchFamily="18" charset="0"/>
            </a:endParaRPr>
          </a:p>
          <a:p>
            <a:pPr marL="73025" lvl="0" indent="0" eaLnBrk="1" hangingPunct="1">
              <a:spcBef>
                <a:spcPct val="0"/>
              </a:spcBef>
              <a:buFontTx/>
              <a:buNone/>
            </a:pPr>
            <a:r>
              <a:rPr lang="en-IN" altLang="en-US" sz="2000" b="1">
                <a:latin typeface="Times New Roman" panose="02020603050405020304" pitchFamily="18" charset="0"/>
                <a:cs typeface="Times New Roman" panose="02020603050405020304" pitchFamily="18" charset="0"/>
                <a:sym typeface="+mn-ea"/>
              </a:rPr>
              <a:t>[1]</a:t>
            </a:r>
            <a:r>
              <a:rPr lang="en-IN" altLang="en-US" sz="2000">
                <a:latin typeface="Times New Roman" panose="02020603050405020304" pitchFamily="18" charset="0"/>
                <a:cs typeface="Times New Roman" panose="02020603050405020304" pitchFamily="18" charset="0"/>
                <a:sym typeface="+mn-ea"/>
              </a:rPr>
              <a:t>l Hamoud, A., Hoenig, A. and Roy, K., 2022. Sentence subjectivity analysis of a political and ideological debate dataset using LSTM and BiLSTM with attention and GRU models. </a:t>
            </a:r>
            <a:r>
              <a:rPr lang="en-IN" altLang="en-US" sz="2000" i="1">
                <a:latin typeface="Times New Roman" panose="02020603050405020304" pitchFamily="18" charset="0"/>
                <a:cs typeface="Times New Roman" panose="02020603050405020304" pitchFamily="18" charset="0"/>
                <a:sym typeface="+mn-ea"/>
              </a:rPr>
              <a:t>Journal of King Saud University-Computer and Information Sciences</a:t>
            </a:r>
            <a:r>
              <a:rPr lang="en-IN" altLang="en-US" sz="2000">
                <a:latin typeface="Times New Roman" panose="02020603050405020304" pitchFamily="18" charset="0"/>
                <a:cs typeface="Times New Roman" panose="02020603050405020304" pitchFamily="18" charset="0"/>
                <a:sym typeface="+mn-ea"/>
              </a:rPr>
              <a:t>, 34(10), pp.7974-7987, 2022.</a:t>
            </a:r>
            <a:endParaRPr lang="en-IN" altLang="en-US" sz="2000">
              <a:latin typeface="Times New Roman" panose="02020603050405020304" pitchFamily="18" charset="0"/>
              <a:cs typeface="Times New Roman" panose="02020603050405020304" pitchFamily="18" charset="0"/>
            </a:endParaRPr>
          </a:p>
          <a:p>
            <a:pPr marL="73025" lvl="0" indent="0" eaLnBrk="1" hangingPunct="1">
              <a:spcBef>
                <a:spcPct val="0"/>
              </a:spcBef>
              <a:buFontTx/>
              <a:buNone/>
            </a:pPr>
            <a:r>
              <a:rPr lang="en-IN" altLang="en-US" sz="2000">
                <a:latin typeface="Times New Roman" panose="02020603050405020304" pitchFamily="18" charset="0"/>
                <a:cs typeface="Times New Roman" panose="02020603050405020304" pitchFamily="18" charset="0"/>
                <a:sym typeface="+mn-ea"/>
              </a:rPr>
              <a:t>[2] Bouaziz, F., Oulhadj, H., Boutana, D. and Siarry, P., 2019. Automatic ECG arrhythmias classification scheme based on the conjoint use of the multi‐layer perceptron neural network and a new improved metaheuristic approach. </a:t>
            </a:r>
            <a:r>
              <a:rPr lang="en-IN" altLang="en-US" sz="2000" i="1">
                <a:latin typeface="Times New Roman" panose="02020603050405020304" pitchFamily="18" charset="0"/>
                <a:cs typeface="Times New Roman" panose="02020603050405020304" pitchFamily="18" charset="0"/>
                <a:sym typeface="+mn-ea"/>
              </a:rPr>
              <a:t>IET Signal Processing</a:t>
            </a:r>
            <a:r>
              <a:rPr lang="en-IN" altLang="en-US" sz="2000">
                <a:latin typeface="Times New Roman" panose="02020603050405020304" pitchFamily="18" charset="0"/>
                <a:cs typeface="Times New Roman" panose="02020603050405020304" pitchFamily="18" charset="0"/>
                <a:sym typeface="+mn-ea"/>
              </a:rPr>
              <a:t>, 13(8), pp.726-735.</a:t>
            </a:r>
            <a:endParaRPr lang="en-IN" altLang="en-US" sz="2000">
              <a:latin typeface="Times New Roman" panose="02020603050405020304" pitchFamily="18" charset="0"/>
              <a:cs typeface="Times New Roman" panose="02020603050405020304" pitchFamily="18" charset="0"/>
            </a:endParaRPr>
          </a:p>
          <a:p>
            <a:pPr marL="73025" lvl="0" indent="0" eaLnBrk="1" hangingPunct="1">
              <a:spcBef>
                <a:spcPct val="0"/>
              </a:spcBef>
              <a:buFontTx/>
              <a:buNone/>
            </a:pPr>
            <a:r>
              <a:rPr lang="en-IN" altLang="en-US" sz="2000">
                <a:latin typeface="Times New Roman" panose="02020603050405020304" pitchFamily="18" charset="0"/>
                <a:cs typeface="Times New Roman" panose="02020603050405020304" pitchFamily="18" charset="0"/>
                <a:sym typeface="+mn-ea"/>
              </a:rPr>
              <a:t>[3] </a:t>
            </a:r>
            <a:r>
              <a:rPr lang="en-US" altLang="en-US" sz="2000">
                <a:latin typeface="Times New Roman" panose="02020603050405020304" pitchFamily="18" charset="0"/>
                <a:cs typeface="Times New Roman" panose="02020603050405020304" pitchFamily="18" charset="0"/>
                <a:sym typeface="+mn-ea"/>
              </a:rPr>
              <a:t>A. Varshney, R. Kolhe, S. Gatne and V. V. Ingale, "Arrhythmia Classification of ECG Signals Using Undecimated Discrete Wavelet Transform," </a:t>
            </a:r>
            <a:r>
              <a:rPr lang="en-US" altLang="en-US" sz="2000" i="1">
                <a:latin typeface="Times New Roman" panose="02020603050405020304" pitchFamily="18" charset="0"/>
                <a:cs typeface="Times New Roman" panose="02020603050405020304" pitchFamily="18" charset="0"/>
                <a:sym typeface="+mn-ea"/>
              </a:rPr>
              <a:t>2022 IEEE 7th International conference for Convergence in Technology (I2CT)</a:t>
            </a:r>
            <a:r>
              <a:rPr lang="en-US" altLang="en-US" sz="2000">
                <a:latin typeface="Times New Roman" panose="02020603050405020304" pitchFamily="18" charset="0"/>
                <a:cs typeface="Times New Roman" panose="02020603050405020304" pitchFamily="18" charset="0"/>
                <a:sym typeface="+mn-ea"/>
              </a:rPr>
              <a:t>, Mumbai, India, 2022, pp. 1-5.</a:t>
            </a:r>
            <a:endParaRPr lang="en-IN" altLang="en-US" sz="2000">
              <a:latin typeface="Times New Roman" panose="02020603050405020304" pitchFamily="18" charset="0"/>
              <a:cs typeface="Times New Roman" panose="02020603050405020304" pitchFamily="18" charset="0"/>
            </a:endParaRPr>
          </a:p>
          <a:p>
            <a:pPr marL="73025" lvl="0" indent="0" algn="just" eaLnBrk="1" hangingPunct="1">
              <a:spcBef>
                <a:spcPct val="0"/>
              </a:spcBef>
              <a:buFontTx/>
              <a:buNone/>
            </a:pPr>
            <a:r>
              <a:rPr lang="en-IN" altLang="en-US" sz="2000">
                <a:latin typeface="Times New Roman" panose="02020603050405020304" pitchFamily="18" charset="0"/>
                <a:cs typeface="Times New Roman" panose="02020603050405020304" pitchFamily="18" charset="0"/>
                <a:sym typeface="+mn-ea"/>
              </a:rPr>
              <a:t>[4] Babu, D.V., Karthikeyan, C. and Kumar, A., 2020, December. Performance analysis of cost and accuracy for whale swarm and RMSprop optimizer. In </a:t>
            </a:r>
            <a:r>
              <a:rPr lang="en-IN" altLang="en-US" sz="2000" i="1">
                <a:latin typeface="Times New Roman" panose="02020603050405020304" pitchFamily="18" charset="0"/>
                <a:cs typeface="Times New Roman" panose="02020603050405020304" pitchFamily="18" charset="0"/>
                <a:sym typeface="+mn-ea"/>
              </a:rPr>
              <a:t>IOP Conference Series: Materials Science and Engineering</a:t>
            </a:r>
            <a:r>
              <a:rPr lang="en-IN" altLang="en-US" sz="2000">
                <a:latin typeface="Times New Roman" panose="02020603050405020304" pitchFamily="18" charset="0"/>
                <a:cs typeface="Times New Roman" panose="02020603050405020304" pitchFamily="18" charset="0"/>
                <a:sym typeface="+mn-ea"/>
              </a:rPr>
              <a:t> (Vol. 993, No. 1, p. 012080). IOP Publishing.</a:t>
            </a:r>
            <a:endParaRPr lang="en-IN" altLang="en-US" sz="2000">
              <a:latin typeface="Times New Roman" panose="02020603050405020304" pitchFamily="18" charset="0"/>
              <a:ea typeface="Times New Roman" panose="02020603050405020304" pitchFamily="18" charset="0"/>
            </a:endParaRPr>
          </a:p>
          <a:p>
            <a:pPr marL="73025" lvl="0" indent="0">
              <a:buNone/>
            </a:pPr>
            <a:endParaRPr lang="en-US" altLang="en-US" sz="2000">
              <a:latin typeface="Times New Roman" panose="02020603050405020304" pitchFamily="18" charset="0"/>
              <a:ea typeface="Times New Roman" panose="02020603050405020304" pitchFamily="18" charset="0"/>
            </a:endParaRPr>
          </a:p>
        </p:txBody>
      </p:sp>
      <p:sp>
        <p:nvSpPr>
          <p:cNvPr id="41988" name="Rectangle 3"/>
          <p:cNvSpPr/>
          <p:nvPr/>
        </p:nvSpPr>
        <p:spPr>
          <a:xfrm>
            <a:off x="3635375" y="549275"/>
            <a:ext cx="1614488"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Tx/>
              <a:buNone/>
            </a:pPr>
            <a:r>
              <a:rPr lang="en-US" altLang="en-US" sz="2400" b="1">
                <a:latin typeface="Times New Roman" panose="02020603050405020304" pitchFamily="18" charset="0"/>
                <a:cs typeface="Times New Roman" panose="02020603050405020304" pitchFamily="18" charset="0"/>
              </a:rPr>
              <a:t>References</a:t>
            </a:r>
            <a:endParaRPr lang="en-IN" altLang="en-US" sz="2400" b="1">
              <a:latin typeface="Times New Roman" panose="02020603050405020304" pitchFamily="18" charset="0"/>
              <a:ea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44*308"/>
  <p:tag name="TABLE_ENDDRAG_RECT" val="25*150*644*30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44*347"/>
  <p:tag name="TABLE_ENDDRAG_RECT" val="25*134*644*347"/>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00*281"/>
  <p:tag name="TABLE_ENDDRAG_RECT" val="9*139*700*282"/>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691*287"/>
  <p:tag name="TABLE_ENDDRAG_RECT" val="8*195*691*287"/>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706*448"/>
  <p:tag name="TABLE_ENDDRAG_RECT" val="2*128*706*448"/>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683*352"/>
  <p:tag name="TABLE_ENDDRAG_RECT" val="9*89*683*35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3326</Words>
  <Application>Microsoft Office PowerPoint</Application>
  <PresentationFormat>On-screen Show (4:3)</PresentationFormat>
  <Paragraphs>529</Paragraphs>
  <Slides>56</Slides>
  <Notes>0</Notes>
  <HiddenSlides>0</HiddenSlides>
  <MMClips>0</MMClips>
  <ScaleCrop>false</ScaleCrop>
  <HeadingPairs>
    <vt:vector size="4" baseType="variant">
      <vt:variant>
        <vt:lpstr>Theme</vt:lpstr>
      </vt:variant>
      <vt:variant>
        <vt:i4>3</vt:i4>
      </vt:variant>
      <vt:variant>
        <vt:lpstr>Slide Titles</vt:lpstr>
      </vt:variant>
      <vt:variant>
        <vt:i4>56</vt:i4>
      </vt:variant>
    </vt:vector>
  </HeadingPairs>
  <TitlesOfParts>
    <vt:vector size="59" baseType="lpstr">
      <vt:lpstr>Office Theme</vt:lpstr>
      <vt:lpstr>1_Office Theme</vt:lpstr>
      <vt:lpstr>2_Office Theme</vt:lpstr>
      <vt:lpstr>Capstone Project – Final:  Review – 1 on Online Payment Fraud Detection</vt:lpstr>
      <vt:lpstr>CONTENTS</vt:lpstr>
      <vt:lpstr>PowerPoint Presentation</vt:lpstr>
      <vt:lpstr>CONTENTS</vt:lpstr>
      <vt:lpstr>Introduction </vt:lpstr>
      <vt:lpstr>Introduction..contd</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CONTENTS</vt:lpstr>
      <vt:lpstr>Problem Statement</vt:lpstr>
      <vt:lpstr>CONTENTS</vt:lpstr>
      <vt:lpstr>Objectives</vt:lpstr>
      <vt:lpstr>CONTENTS</vt:lpstr>
      <vt:lpstr>Requirement Analysis</vt:lpstr>
      <vt:lpstr>Requirement Analysis</vt:lpstr>
      <vt:lpstr>Requirement Analysis</vt:lpstr>
      <vt:lpstr>Requirement Analysis</vt:lpstr>
      <vt:lpstr>CONTENTS</vt:lpstr>
      <vt:lpstr>Identification of tools/technology/algorithms</vt:lpstr>
      <vt:lpstr>CONTENTS</vt:lpstr>
      <vt:lpstr>Final Design Strategy</vt:lpstr>
      <vt:lpstr>Work flow diagram</vt:lpstr>
      <vt:lpstr>usecase diagram</vt:lpstr>
      <vt:lpstr>CONTENTS</vt:lpstr>
      <vt:lpstr>Status of Implementation</vt:lpstr>
      <vt:lpstr>PowerPoint Presentation</vt:lpstr>
      <vt:lpstr>PowerPoint Presentation</vt:lpstr>
      <vt:lpstr>PowerPoint Presentation</vt:lpstr>
      <vt:lpstr>PowerPoint Presentation</vt:lpstr>
      <vt:lpstr>PowerPoint Presentation</vt:lpstr>
      <vt:lpstr>Normalization and Scaling </vt:lpstr>
      <vt:lpstr>Output for Normalization &amp; Scaling</vt:lpstr>
      <vt:lpstr>PowerPoint Presentation</vt:lpstr>
      <vt:lpstr>DATASET</vt:lpstr>
      <vt:lpstr>PowerPoint Presentation</vt:lpstr>
      <vt:lpstr>Implementation of XGBoost</vt:lpstr>
      <vt:lpstr>Train the model</vt:lpstr>
      <vt:lpstr>Develop DNN Model: </vt:lpstr>
      <vt:lpstr>Train DNN Model </vt:lpstr>
      <vt:lpstr>Whale Optimization Algorithm</vt:lpstr>
      <vt:lpstr>Implementation of WOA</vt:lpstr>
      <vt:lpstr>Confusion matrix</vt:lpstr>
      <vt:lpstr>SAMPLE USER INTERFACE</vt:lpstr>
      <vt:lpstr>Status of Implementation</vt:lpstr>
      <vt:lpstr>Status of Implementation</vt:lpstr>
      <vt:lpstr>CONTENTS</vt:lpstr>
      <vt:lpstr>Conclusion</vt:lpstr>
      <vt:lpstr>Gantt Chart</vt:lpstr>
      <vt:lpstr>CONTENTS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Garre Lakshmi Manasa</cp:lastModifiedBy>
  <cp:revision>65</cp:revision>
  <dcterms:created xsi:type="dcterms:W3CDTF">2024-09-06T03:49:00Z</dcterms:created>
  <dcterms:modified xsi:type="dcterms:W3CDTF">2025-01-06T12:37:31Z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1EEE10CA584B47AC8B8177C7984D35DC_13</vt:lpwstr>
  </property>
  <property fmtid="{D5CDD505-2E9C-101B-9397-08002B2CF9AE}" pid="3" name="KSOProductBuildVer">
    <vt:lpwstr>1033-12.2.0.19307</vt:lpwstr>
  </property>
</Properties>
</file>